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86" r:id="rId2"/>
    <p:sldId id="257" r:id="rId3"/>
    <p:sldId id="371" r:id="rId4"/>
    <p:sldId id="307" r:id="rId5"/>
    <p:sldId id="392" r:id="rId6"/>
    <p:sldId id="393" r:id="rId7"/>
    <p:sldId id="389" r:id="rId8"/>
    <p:sldId id="391" r:id="rId9"/>
    <p:sldId id="390" r:id="rId10"/>
    <p:sldId id="394" r:id="rId11"/>
    <p:sldId id="395" r:id="rId12"/>
    <p:sldId id="396" r:id="rId13"/>
    <p:sldId id="266" r:id="rId14"/>
    <p:sldId id="3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859"/>
    <p:restoredTop sz="94617"/>
  </p:normalViewPr>
  <p:slideViewPr>
    <p:cSldViewPr snapToGrid="0">
      <p:cViewPr varScale="1">
        <p:scale>
          <a:sx n="77" d="100"/>
          <a:sy n="77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9D2FA-B47A-46D9-91A8-8215D3224AA8}" type="datetimeFigureOut"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03F80-CC4A-4878-81E8-4BD0D14696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87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03F80-CC4A-4878-81E8-4BD0D146967E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00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03F80-CC4A-4878-81E8-4BD0D146967E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42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03F80-CC4A-4878-81E8-4BD0D146967E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31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SKU</a:t>
            </a:r>
            <a:r>
              <a:rPr lang="en-US" dirty="0">
                <a:sym typeface="Wingdings" pitchFamily="2" charset="2"/>
              </a:rPr>
              <a:t>: (</a:t>
            </a:r>
            <a:r>
              <a:rPr lang="en-US" dirty="0"/>
              <a:t>stock keeping unit) , stock code in the provided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03F80-CC4A-4878-81E8-4BD0D146967E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0784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03F80-CC4A-4878-81E8-4BD0D146967E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20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03F80-CC4A-4878-81E8-4BD0D146967E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13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03F80-CC4A-4878-81E8-4BD0D146967E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47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03F80-CC4A-4878-81E8-4BD0D146967E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85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54AFC07-20FD-4214-951D-FAD7BC0DCD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67300" y="0"/>
            <a:ext cx="7124700" cy="6857999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8208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 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0"/>
          <p:cNvCxnSpPr/>
          <p:nvPr/>
        </p:nvCxnSpPr>
        <p:spPr>
          <a:xfrm>
            <a:off x="4234067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" name="Google Shape;80;p10"/>
          <p:cNvCxnSpPr/>
          <p:nvPr/>
        </p:nvCxnSpPr>
        <p:spPr>
          <a:xfrm>
            <a:off x="4234067" y="2309200"/>
            <a:ext cx="79552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" name="Google Shape;81;p10"/>
          <p:cNvCxnSpPr/>
          <p:nvPr/>
        </p:nvCxnSpPr>
        <p:spPr>
          <a:xfrm>
            <a:off x="4234067" y="4539533"/>
            <a:ext cx="79552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2" name="Google Shape;8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627150" y="5754382"/>
            <a:ext cx="566532" cy="539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1888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C90A0-FD1C-C6FD-0432-EEEB3F26A9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2806262" y="-523167"/>
            <a:ext cx="9271851" cy="9271851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ID"/>
              <a:t>Image Placeholder</a:t>
            </a: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2F23C0A8-3DAA-3585-E316-D106257B6A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6181" y="596348"/>
            <a:ext cx="2389832" cy="320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accent1"/>
                </a:solidFill>
                <a:latin typeface="Lato" panose="020F0502020204030203" pitchFamily="34" charset="77"/>
                <a:cs typeface="Sora" pitchFamily="2" charset="0"/>
              </a:defRPr>
            </a:lvl1pPr>
            <a:lvl2pPr marL="457189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2pPr>
            <a:lvl3pPr marL="914377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3pPr>
            <a:lvl4pPr marL="1371566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4pPr>
            <a:lvl5pPr marL="1828754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5pPr>
          </a:lstStyle>
          <a:p>
            <a:pPr lvl="0"/>
            <a:r>
              <a:rPr lang="en-US"/>
              <a:t>Project Manager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6105C323-AB8D-C825-8E97-F63DE292BB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6182" y="978724"/>
            <a:ext cx="3602988" cy="10886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buNone/>
              <a:defRPr sz="1100" b="0" i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1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</a:lstStyle>
          <a:p>
            <a:pPr>
              <a:lnSpc>
                <a:spcPts val="3200"/>
              </a:lnSpc>
            </a:pP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elitwi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elitwi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</a:t>
            </a:r>
            <a:endParaRPr lang="en-ID" sz="11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B21F3BD3-53A6-83AF-2446-5A1DDF5F2C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0965" y="2683565"/>
            <a:ext cx="2389832" cy="320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accent1"/>
                </a:solidFill>
                <a:latin typeface="Lato" panose="020F0502020204030203" pitchFamily="34" charset="77"/>
                <a:cs typeface="Sora" pitchFamily="2" charset="0"/>
              </a:defRPr>
            </a:lvl1pPr>
            <a:lvl2pPr marL="457189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2pPr>
            <a:lvl3pPr marL="914377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3pPr>
            <a:lvl4pPr marL="1371566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4pPr>
            <a:lvl5pPr marL="1828754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5pPr>
          </a:lstStyle>
          <a:p>
            <a:pPr lvl="0"/>
            <a:r>
              <a:rPr lang="en-US"/>
              <a:t>Project Manager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4CA1FD1-15B6-16A1-732C-BDB6EE80B5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20966" y="3065941"/>
            <a:ext cx="3602988" cy="10886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buNone/>
              <a:defRPr sz="1100" b="0" i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1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</a:lstStyle>
          <a:p>
            <a:pPr>
              <a:lnSpc>
                <a:spcPts val="3200"/>
              </a:lnSpc>
            </a:pP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elitwi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elitwi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</a:t>
            </a:r>
            <a:endParaRPr lang="en-ID" sz="11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52919A50-D6CE-FE7C-8B9F-A20E69B58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20965" y="4770783"/>
            <a:ext cx="2389832" cy="320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accent1"/>
                </a:solidFill>
                <a:latin typeface="Lato" panose="020F0502020204030203" pitchFamily="34" charset="77"/>
                <a:cs typeface="Sora" pitchFamily="2" charset="0"/>
              </a:defRPr>
            </a:lvl1pPr>
            <a:lvl2pPr marL="457189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2pPr>
            <a:lvl3pPr marL="914377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3pPr>
            <a:lvl4pPr marL="1371566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4pPr>
            <a:lvl5pPr marL="1828754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5pPr>
          </a:lstStyle>
          <a:p>
            <a:pPr lvl="0"/>
            <a:r>
              <a:rPr lang="en-US"/>
              <a:t>Project Manager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19243262-88AA-D693-EFE9-FB5B3B6E71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0966" y="5153158"/>
            <a:ext cx="3602988" cy="10886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buNone/>
              <a:defRPr sz="1100" b="0" i="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1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</a:lstStyle>
          <a:p>
            <a:pPr>
              <a:lnSpc>
                <a:spcPts val="3200"/>
              </a:lnSpc>
            </a:pP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elitwi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elitwi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Pellentesque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</a:t>
            </a:r>
            <a:endParaRPr lang="en-ID" sz="11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188D8254-439C-1012-CC76-5998C719E2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6567" y="4157401"/>
            <a:ext cx="3813903" cy="12022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Lato" panose="020F0502020204030203" pitchFamily="34" charset="77"/>
                <a:cs typeface="Sora" pitchFamily="2" charset="0"/>
              </a:defRPr>
            </a:lvl1pPr>
            <a:lvl2pPr marL="457189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2pPr>
            <a:lvl3pPr marL="914377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3pPr>
            <a:lvl4pPr marL="1371566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4pPr>
            <a:lvl5pPr marL="1828754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5pPr>
          </a:lstStyle>
          <a:p>
            <a:r>
              <a:rPr lang="en-US"/>
              <a:t>Business Plan and Strategy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3C446830-E90E-28D8-9851-2DA325EC38E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59482" y="3888943"/>
            <a:ext cx="2531799" cy="2238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Lato Light" panose="020F0302020204030203" pitchFamily="34" charset="77"/>
                <a:cs typeface="Sora" pitchFamily="2" charset="0"/>
              </a:defRPr>
            </a:lvl1pPr>
            <a:lvl2pPr marL="457189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2pPr>
            <a:lvl3pPr marL="914377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3pPr>
            <a:lvl4pPr marL="1371566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4pPr>
            <a:lvl5pPr marL="1828754" indent="0">
              <a:buNone/>
              <a:defRPr sz="1800" b="0" i="0">
                <a:solidFill>
                  <a:schemeClr val="accent1"/>
                </a:solidFill>
                <a:latin typeface="Bricolage Grotesque" panose="020B0605040402000204" pitchFamily="34" charset="0"/>
              </a:defRPr>
            </a:lvl5pPr>
          </a:lstStyle>
          <a:p>
            <a:pPr lvl="0"/>
            <a:r>
              <a:rPr lang="en-US"/>
              <a:t>PITCH DECK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44D11467-0C84-6F4F-392C-A37031922C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195" y="5487071"/>
            <a:ext cx="4318772" cy="6659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400"/>
              </a:lnSpc>
              <a:buNone/>
              <a:defRPr sz="1100" b="0" i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1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</a:lstStyle>
          <a:p>
            <a:pPr>
              <a:lnSpc>
                <a:spcPts val="3200"/>
              </a:lnSpc>
            </a:pP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elitwi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Pellentesquel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scelerisque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sit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1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</a:t>
            </a:r>
            <a:endParaRPr lang="en-US" sz="11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37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479900" y="1486700"/>
            <a:ext cx="24268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131333" y="13094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3" name="Google Shape;73;p9"/>
          <p:cNvSpPr>
            <a:spLocks noGrp="1"/>
          </p:cNvSpPr>
          <p:nvPr>
            <p:ph type="pic" idx="2"/>
          </p:nvPr>
        </p:nvSpPr>
        <p:spPr>
          <a:xfrm>
            <a:off x="3729600" y="12867"/>
            <a:ext cx="39868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9232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  <p:sldLayoutId id="214748367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2FF6741-DAD7-486E-9B77-B016C8A12DEF}"/>
              </a:ext>
            </a:extLst>
          </p:cNvPr>
          <p:cNvGrpSpPr/>
          <p:nvPr/>
        </p:nvGrpSpPr>
        <p:grpSpPr>
          <a:xfrm>
            <a:off x="11410063" y="318590"/>
            <a:ext cx="183356" cy="112637"/>
            <a:chOff x="8424863" y="314323"/>
            <a:chExt cx="282297" cy="11263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381311C-81B1-42D0-AECE-0A3B0A83163B}"/>
                </a:ext>
              </a:extLst>
            </p:cNvPr>
            <p:cNvCxnSpPr/>
            <p:nvPr/>
          </p:nvCxnSpPr>
          <p:spPr>
            <a:xfrm>
              <a:off x="8424863" y="314323"/>
              <a:ext cx="28229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B33CA0E-55E7-4386-9A65-9DDE509A87E9}"/>
                </a:ext>
              </a:extLst>
            </p:cNvPr>
            <p:cNvCxnSpPr/>
            <p:nvPr/>
          </p:nvCxnSpPr>
          <p:spPr>
            <a:xfrm>
              <a:off x="8424863" y="371833"/>
              <a:ext cx="28229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6DE175B-867A-4188-AD87-ECA9D140EAB3}"/>
                </a:ext>
              </a:extLst>
            </p:cNvPr>
            <p:cNvCxnSpPr/>
            <p:nvPr/>
          </p:nvCxnSpPr>
          <p:spPr>
            <a:xfrm>
              <a:off x="8424863" y="426961"/>
              <a:ext cx="28229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503F3ACF-BA4C-4C74-BCF9-CF32F9C9F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920" y="1012225"/>
            <a:ext cx="69298" cy="483355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BB50298-9D7C-469C-8211-3A1D16D94BD9}"/>
              </a:ext>
            </a:extLst>
          </p:cNvPr>
          <p:cNvSpPr txBox="1">
            <a:spLocks/>
          </p:cNvSpPr>
          <p:nvPr/>
        </p:nvSpPr>
        <p:spPr>
          <a:xfrm>
            <a:off x="598581" y="1432808"/>
            <a:ext cx="4799638" cy="28229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s-Latn-BA" sz="1200" b="1" spc="300" dirty="0">
                <a:solidFill>
                  <a:schemeClr val="bg1"/>
                </a:solidFill>
                <a:latin typeface="Albert Sans" pitchFamily="2" charset="0"/>
                <a:ea typeface="Roboto Slab" pitchFamily="2" charset="0"/>
                <a:cs typeface="Lato" panose="020F0502020204030203" pitchFamily="34" charset="0"/>
              </a:rPr>
              <a:t>ADD SUBTITLE ADD SUBTITLE</a:t>
            </a:r>
            <a:endParaRPr lang="id-ID" sz="1200" b="1" spc="300" dirty="0">
              <a:solidFill>
                <a:schemeClr val="bg1"/>
              </a:solidFill>
              <a:latin typeface="Albert Sans" pitchFamily="2" charset="0"/>
              <a:ea typeface="Roboto Slab" pitchFamily="2" charset="0"/>
              <a:cs typeface="Lato" panose="020F0502020204030203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29" y="386611"/>
            <a:ext cx="5233190" cy="586800"/>
          </a:xfrm>
          <a:prstGeom prst="rect">
            <a:avLst/>
          </a:prstGeom>
        </p:spPr>
      </p:pic>
      <p:sp>
        <p:nvSpPr>
          <p:cNvPr id="18" name="Google Shape;127;p17"/>
          <p:cNvSpPr txBox="1">
            <a:spLocks/>
          </p:cNvSpPr>
          <p:nvPr/>
        </p:nvSpPr>
        <p:spPr>
          <a:xfrm>
            <a:off x="329924" y="1891223"/>
            <a:ext cx="3624672" cy="13845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SzPct val="111111"/>
            </a:pPr>
            <a:endParaRPr lang="bs-Latn-BA" sz="6000" b="1" dirty="0">
              <a:solidFill>
                <a:srgbClr val="D5253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6FE0C6-C5E0-96A7-7C7B-BC7D39E66ED3}"/>
              </a:ext>
            </a:extLst>
          </p:cNvPr>
          <p:cNvSpPr txBox="1"/>
          <p:nvPr/>
        </p:nvSpPr>
        <p:spPr>
          <a:xfrm>
            <a:off x="272150" y="1947825"/>
            <a:ext cx="5233190" cy="1938992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 anchor="b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Albert Sans"/>
                <a:ea typeface="Open Sans"/>
                <a:cs typeface="Open Sans"/>
              </a:rPr>
              <a:t>LGS Customer &amp; Revenue  Data Analytics PoC</a:t>
            </a:r>
            <a:endParaRPr lang="en-US" sz="4000" dirty="0">
              <a:solidFill>
                <a:srgbClr val="C00000"/>
              </a:solidFill>
              <a:latin typeface="Albert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9C65D-B56C-CC24-2D91-D55A00A34A3D}"/>
              </a:ext>
            </a:extLst>
          </p:cNvPr>
          <p:cNvSpPr txBox="1"/>
          <p:nvPr/>
        </p:nvSpPr>
        <p:spPr>
          <a:xfrm>
            <a:off x="0" y="5720326"/>
            <a:ext cx="5777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Kanty Gakima – Data Engineer, Jarvis Consulting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3C352-B9FE-C6D8-80A0-C7B6FF1AEEF1}"/>
              </a:ext>
            </a:extLst>
          </p:cNvPr>
          <p:cNvSpPr txBox="1"/>
          <p:nvPr/>
        </p:nvSpPr>
        <p:spPr>
          <a:xfrm>
            <a:off x="0" y="3886817"/>
            <a:ext cx="5777490" cy="373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Python Data Wrangling &amp; Exploratory Analytics</a:t>
            </a:r>
          </a:p>
        </p:txBody>
      </p:sp>
      <p:pic>
        <p:nvPicPr>
          <p:cNvPr id="1030" name="Picture 6" descr="Data Analytics and Predictive Modeling for Library Services - Pacific  University Libraries">
            <a:extLst>
              <a:ext uri="{FF2B5EF4-FFF2-40B4-BE49-F238E27FC236}">
                <a16:creationId xmlns:a16="http://schemas.microsoft.com/office/drawing/2014/main" id="{286A580A-BB68-BE18-6876-75334AAEA64E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8" r="15348"/>
          <a:stretch>
            <a:fillRect/>
          </a:stretch>
        </p:blipFill>
        <p:spPr bwMode="auto">
          <a:xfrm>
            <a:off x="5975852" y="0"/>
            <a:ext cx="6216147" cy="642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035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">
            <a:extLst>
              <a:ext uri="{FF2B5EF4-FFF2-40B4-BE49-F238E27FC236}">
                <a16:creationId xmlns:a16="http://schemas.microsoft.com/office/drawing/2014/main" id="{B7C0E57A-A588-4F70-B861-D0B1DE59C809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-34905" r="-34905"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904D1A-0D6B-1CCC-906E-AEF191ED5D6A}"/>
              </a:ext>
            </a:extLst>
          </p:cNvPr>
          <p:cNvSpPr txBox="1"/>
          <p:nvPr/>
        </p:nvSpPr>
        <p:spPr>
          <a:xfrm>
            <a:off x="8216726" y="3075057"/>
            <a:ext cx="185454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latin typeface="Barlow" pitchFamily="2" charset="77"/>
              </a:rPr>
              <a:t>Agenda</a:t>
            </a:r>
          </a:p>
        </p:txBody>
      </p:sp>
      <p:grpSp>
        <p:nvGrpSpPr>
          <p:cNvPr id="69" name="Group 8">
            <a:extLst>
              <a:ext uri="{FF2B5EF4-FFF2-40B4-BE49-F238E27FC236}">
                <a16:creationId xmlns:a16="http://schemas.microsoft.com/office/drawing/2014/main" id="{48AC1B2E-EC64-DE49-9684-57F17639A000}"/>
              </a:ext>
            </a:extLst>
          </p:cNvPr>
          <p:cNvGrpSpPr/>
          <p:nvPr/>
        </p:nvGrpSpPr>
        <p:grpSpPr>
          <a:xfrm rot="10800000">
            <a:off x="7253255" y="4534332"/>
            <a:ext cx="67557" cy="67557"/>
            <a:chOff x="0" y="0"/>
            <a:chExt cx="6350000" cy="6350000"/>
          </a:xfrm>
        </p:grpSpPr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028FF1AA-7CAC-7420-15ED-68DF442A89C6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</p:grpSp>
      <p:sp>
        <p:nvSpPr>
          <p:cNvPr id="87" name="Freeform 25">
            <a:extLst>
              <a:ext uri="{FF2B5EF4-FFF2-40B4-BE49-F238E27FC236}">
                <a16:creationId xmlns:a16="http://schemas.microsoft.com/office/drawing/2014/main" id="{C7D293AB-C637-7574-CBF0-F538328A0008}"/>
              </a:ext>
            </a:extLst>
          </p:cNvPr>
          <p:cNvSpPr/>
          <p:nvPr/>
        </p:nvSpPr>
        <p:spPr>
          <a:xfrm rot="10800000">
            <a:off x="7242146" y="3847656"/>
            <a:ext cx="67557" cy="67557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8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9B2E23E-9514-802F-CE9A-898D03BC0797}"/>
              </a:ext>
            </a:extLst>
          </p:cNvPr>
          <p:cNvSpPr txBox="1"/>
          <p:nvPr/>
        </p:nvSpPr>
        <p:spPr>
          <a:xfrm>
            <a:off x="690880" y="1148944"/>
            <a:ext cx="471424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Business problem &amp; objectives</a:t>
            </a:r>
          </a:p>
          <a:p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Dataset Overview &amp; Data quality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Data quality, risks &amp; limitations</a:t>
            </a:r>
          </a:p>
          <a:p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 Analytics methods &amp; approach</a:t>
            </a:r>
          </a:p>
          <a:p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Key customer &amp; Revenue insights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Recommendations</a:t>
            </a:r>
          </a:p>
          <a:p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Conclusion and Q&amp;A</a:t>
            </a:r>
          </a:p>
          <a:p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BFE9395-DE41-BCE1-3B60-480B08D4D5FA}"/>
              </a:ext>
            </a:extLst>
          </p:cNvPr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46D1D1-1408-E57A-87CE-2753374C9025}"/>
              </a:ext>
            </a:extLst>
          </p:cNvPr>
          <p:cNvSpPr txBox="1"/>
          <p:nvPr/>
        </p:nvSpPr>
        <p:spPr>
          <a:xfrm>
            <a:off x="438250" y="413535"/>
            <a:ext cx="11094720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dirty="0"/>
              <a:t>Business</a:t>
            </a:r>
            <a:r>
              <a:rPr lang="en-US" sz="3000" b="1" dirty="0">
                <a:latin typeface="Open Sans"/>
                <a:ea typeface="Open Sans"/>
                <a:cs typeface="Open Sans"/>
              </a:rPr>
              <a:t> </a:t>
            </a:r>
            <a:r>
              <a:rPr lang="en-US" sz="3000" b="1" dirty="0"/>
              <a:t>Problem &amp; Objectives</a:t>
            </a:r>
          </a:p>
        </p:txBody>
      </p:sp>
      <p:sp>
        <p:nvSpPr>
          <p:cNvPr id="17" name="Google Shape;140;p18"/>
          <p:cNvSpPr/>
          <p:nvPr/>
        </p:nvSpPr>
        <p:spPr>
          <a:xfrm rot="5400000">
            <a:off x="992121" y="503733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A65C6-70E9-DA18-D637-656BCB21FF6A}"/>
              </a:ext>
            </a:extLst>
          </p:cNvPr>
          <p:cNvSpPr txBox="1"/>
          <p:nvPr/>
        </p:nvSpPr>
        <p:spPr>
          <a:xfrm>
            <a:off x="438250" y="1565564"/>
            <a:ext cx="110947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London Gift Shop  revenue stagnating despite 10+ years of online operations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Limited understanding of customer purchasing patterns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b="1" dirty="0"/>
              <a:t>Objectives </a:t>
            </a:r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i="0" u="none" strike="noStrike" dirty="0">
                <a:solidFill>
                  <a:srgbClr val="000000"/>
                </a:solidFill>
                <a:effectLst/>
              </a:rPr>
              <a:t>Analyze the transactional dataset</a:t>
            </a:r>
            <a:r>
              <a:rPr lang="en-CA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provided by the LGS IT team to uncover meaningful purchasing patterns.</a:t>
            </a:r>
          </a:p>
          <a:p>
            <a:endParaRPr lang="en-CA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i="0" u="none" strike="noStrike" dirty="0">
                <a:solidFill>
                  <a:srgbClr val="000000"/>
                </a:solidFill>
                <a:effectLst/>
              </a:rPr>
              <a:t>Generate insights</a:t>
            </a:r>
            <a:r>
              <a:rPr lang="en-CA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on  customer shopping behaviors, seasonality, cancellations, and geographic trends.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553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CD508B-AE0F-5B45-043A-592DE7B65481}"/>
              </a:ext>
            </a:extLst>
          </p:cNvPr>
          <p:cNvCxnSpPr/>
          <p:nvPr/>
        </p:nvCxnSpPr>
        <p:spPr>
          <a:xfrm>
            <a:off x="808445" y="3988707"/>
            <a:ext cx="46155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CBC3009-96CC-37D9-6D16-042A857DBE35}"/>
              </a:ext>
            </a:extLst>
          </p:cNvPr>
          <p:cNvGrpSpPr/>
          <p:nvPr/>
        </p:nvGrpSpPr>
        <p:grpSpPr>
          <a:xfrm>
            <a:off x="5094505" y="973333"/>
            <a:ext cx="555607" cy="548295"/>
            <a:chOff x="5734050" y="3076575"/>
            <a:chExt cx="723900" cy="714375"/>
          </a:xfrm>
          <a:solidFill>
            <a:schemeClr val="bg1"/>
          </a:solidFill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6FD2EB4-DC58-E2D9-F1A5-8A32DEA2C40D}"/>
                </a:ext>
              </a:extLst>
            </p:cNvPr>
            <p:cNvSpPr/>
            <p:nvPr/>
          </p:nvSpPr>
          <p:spPr>
            <a:xfrm>
              <a:off x="5734050" y="3076575"/>
              <a:ext cx="723900" cy="714375"/>
            </a:xfrm>
            <a:custGeom>
              <a:avLst/>
              <a:gdLst>
                <a:gd name="connsiteX0" fmla="*/ 628650 w 723900"/>
                <a:gd name="connsiteY0" fmla="*/ 104775 h 714375"/>
                <a:gd name="connsiteX1" fmla="*/ 628650 w 723900"/>
                <a:gd name="connsiteY1" fmla="*/ 447675 h 714375"/>
                <a:gd name="connsiteX2" fmla="*/ 95250 w 723900"/>
                <a:gd name="connsiteY2" fmla="*/ 447675 h 714375"/>
                <a:gd name="connsiteX3" fmla="*/ 95250 w 723900"/>
                <a:gd name="connsiteY3" fmla="*/ 104775 h 714375"/>
                <a:gd name="connsiteX4" fmla="*/ 704850 w 723900"/>
                <a:gd name="connsiteY4" fmla="*/ 466725 h 714375"/>
                <a:gd name="connsiteX5" fmla="*/ 685800 w 723900"/>
                <a:gd name="connsiteY5" fmla="*/ 466725 h 714375"/>
                <a:gd name="connsiteX6" fmla="*/ 685800 w 723900"/>
                <a:gd name="connsiteY6" fmla="*/ 76200 h 714375"/>
                <a:gd name="connsiteX7" fmla="*/ 704850 w 723900"/>
                <a:gd name="connsiteY7" fmla="*/ 76200 h 714375"/>
                <a:gd name="connsiteX8" fmla="*/ 723900 w 723900"/>
                <a:gd name="connsiteY8" fmla="*/ 57150 h 714375"/>
                <a:gd name="connsiteX9" fmla="*/ 704850 w 723900"/>
                <a:gd name="connsiteY9" fmla="*/ 38100 h 714375"/>
                <a:gd name="connsiteX10" fmla="*/ 381000 w 723900"/>
                <a:gd name="connsiteY10" fmla="*/ 38100 h 714375"/>
                <a:gd name="connsiteX11" fmla="*/ 381000 w 723900"/>
                <a:gd name="connsiteY11" fmla="*/ 19050 h 714375"/>
                <a:gd name="connsiteX12" fmla="*/ 361950 w 723900"/>
                <a:gd name="connsiteY12" fmla="*/ 0 h 714375"/>
                <a:gd name="connsiteX13" fmla="*/ 342900 w 723900"/>
                <a:gd name="connsiteY13" fmla="*/ 19050 h 714375"/>
                <a:gd name="connsiteX14" fmla="*/ 342900 w 723900"/>
                <a:gd name="connsiteY14" fmla="*/ 38100 h 714375"/>
                <a:gd name="connsiteX15" fmla="*/ 19050 w 723900"/>
                <a:gd name="connsiteY15" fmla="*/ 38100 h 714375"/>
                <a:gd name="connsiteX16" fmla="*/ 0 w 723900"/>
                <a:gd name="connsiteY16" fmla="*/ 57150 h 714375"/>
                <a:gd name="connsiteX17" fmla="*/ 19050 w 723900"/>
                <a:gd name="connsiteY17" fmla="*/ 76200 h 714375"/>
                <a:gd name="connsiteX18" fmla="*/ 38100 w 723900"/>
                <a:gd name="connsiteY18" fmla="*/ 76200 h 714375"/>
                <a:gd name="connsiteX19" fmla="*/ 38100 w 723900"/>
                <a:gd name="connsiteY19" fmla="*/ 466725 h 714375"/>
                <a:gd name="connsiteX20" fmla="*/ 19050 w 723900"/>
                <a:gd name="connsiteY20" fmla="*/ 466725 h 714375"/>
                <a:gd name="connsiteX21" fmla="*/ 0 w 723900"/>
                <a:gd name="connsiteY21" fmla="*/ 485775 h 714375"/>
                <a:gd name="connsiteX22" fmla="*/ 19050 w 723900"/>
                <a:gd name="connsiteY22" fmla="*/ 504825 h 714375"/>
                <a:gd name="connsiteX23" fmla="*/ 309944 w 723900"/>
                <a:gd name="connsiteY23" fmla="*/ 504825 h 714375"/>
                <a:gd name="connsiteX24" fmla="*/ 163259 w 723900"/>
                <a:gd name="connsiteY24" fmla="*/ 651510 h 714375"/>
                <a:gd name="connsiteX25" fmla="*/ 163401 w 723900"/>
                <a:gd name="connsiteY25" fmla="*/ 678609 h 714375"/>
                <a:gd name="connsiteX26" fmla="*/ 190500 w 723900"/>
                <a:gd name="connsiteY26" fmla="*/ 678466 h 714375"/>
                <a:gd name="connsiteX27" fmla="*/ 342900 w 723900"/>
                <a:gd name="connsiteY27" fmla="*/ 526066 h 714375"/>
                <a:gd name="connsiteX28" fmla="*/ 342900 w 723900"/>
                <a:gd name="connsiteY28" fmla="*/ 695325 h 714375"/>
                <a:gd name="connsiteX29" fmla="*/ 361950 w 723900"/>
                <a:gd name="connsiteY29" fmla="*/ 714375 h 714375"/>
                <a:gd name="connsiteX30" fmla="*/ 381000 w 723900"/>
                <a:gd name="connsiteY30" fmla="*/ 695325 h 714375"/>
                <a:gd name="connsiteX31" fmla="*/ 381000 w 723900"/>
                <a:gd name="connsiteY31" fmla="*/ 525780 h 714375"/>
                <a:gd name="connsiteX32" fmla="*/ 533400 w 723900"/>
                <a:gd name="connsiteY32" fmla="*/ 678180 h 714375"/>
                <a:gd name="connsiteX33" fmla="*/ 560356 w 723900"/>
                <a:gd name="connsiteY33" fmla="*/ 678180 h 714375"/>
                <a:gd name="connsiteX34" fmla="*/ 560356 w 723900"/>
                <a:gd name="connsiteY34" fmla="*/ 651224 h 714375"/>
                <a:gd name="connsiteX35" fmla="*/ 413957 w 723900"/>
                <a:gd name="connsiteY35" fmla="*/ 504825 h 714375"/>
                <a:gd name="connsiteX36" fmla="*/ 704850 w 723900"/>
                <a:gd name="connsiteY36" fmla="*/ 504825 h 714375"/>
                <a:gd name="connsiteX37" fmla="*/ 723900 w 723900"/>
                <a:gd name="connsiteY37" fmla="*/ 485775 h 714375"/>
                <a:gd name="connsiteX38" fmla="*/ 704850 w 723900"/>
                <a:gd name="connsiteY38" fmla="*/ 466725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23900" h="714375">
                  <a:moveTo>
                    <a:pt x="628650" y="104775"/>
                  </a:moveTo>
                  <a:lnTo>
                    <a:pt x="628650" y="447675"/>
                  </a:lnTo>
                  <a:lnTo>
                    <a:pt x="95250" y="447675"/>
                  </a:lnTo>
                  <a:lnTo>
                    <a:pt x="95250" y="104775"/>
                  </a:lnTo>
                  <a:close/>
                  <a:moveTo>
                    <a:pt x="704850" y="466725"/>
                  </a:moveTo>
                  <a:lnTo>
                    <a:pt x="685800" y="466725"/>
                  </a:lnTo>
                  <a:lnTo>
                    <a:pt x="685800" y="76200"/>
                  </a:lnTo>
                  <a:lnTo>
                    <a:pt x="704850" y="76200"/>
                  </a:lnTo>
                  <a:cubicBezTo>
                    <a:pt x="715371" y="76200"/>
                    <a:pt x="723900" y="67671"/>
                    <a:pt x="723900" y="57150"/>
                  </a:cubicBezTo>
                  <a:cubicBezTo>
                    <a:pt x="723900" y="46629"/>
                    <a:pt x="715371" y="38100"/>
                    <a:pt x="704850" y="38100"/>
                  </a:cubicBezTo>
                  <a:lnTo>
                    <a:pt x="381000" y="38100"/>
                  </a:lnTo>
                  <a:lnTo>
                    <a:pt x="381000" y="19050"/>
                  </a:lnTo>
                  <a:cubicBezTo>
                    <a:pt x="381000" y="8529"/>
                    <a:pt x="372471" y="0"/>
                    <a:pt x="361950" y="0"/>
                  </a:cubicBezTo>
                  <a:cubicBezTo>
                    <a:pt x="351429" y="0"/>
                    <a:pt x="342900" y="8529"/>
                    <a:pt x="342900" y="19050"/>
                  </a:cubicBezTo>
                  <a:lnTo>
                    <a:pt x="342900" y="38100"/>
                  </a:lnTo>
                  <a:lnTo>
                    <a:pt x="19050" y="38100"/>
                  </a:lnTo>
                  <a:cubicBezTo>
                    <a:pt x="8529" y="38100"/>
                    <a:pt x="0" y="46629"/>
                    <a:pt x="0" y="57150"/>
                  </a:cubicBezTo>
                  <a:cubicBezTo>
                    <a:pt x="0" y="67671"/>
                    <a:pt x="8529" y="76200"/>
                    <a:pt x="19050" y="76200"/>
                  </a:cubicBezTo>
                  <a:lnTo>
                    <a:pt x="38100" y="76200"/>
                  </a:lnTo>
                  <a:lnTo>
                    <a:pt x="38100" y="466725"/>
                  </a:lnTo>
                  <a:lnTo>
                    <a:pt x="19050" y="466725"/>
                  </a:lnTo>
                  <a:cubicBezTo>
                    <a:pt x="8529" y="466725"/>
                    <a:pt x="0" y="475254"/>
                    <a:pt x="0" y="485775"/>
                  </a:cubicBezTo>
                  <a:cubicBezTo>
                    <a:pt x="0" y="496296"/>
                    <a:pt x="8529" y="504825"/>
                    <a:pt x="19050" y="504825"/>
                  </a:cubicBezTo>
                  <a:lnTo>
                    <a:pt x="309944" y="504825"/>
                  </a:lnTo>
                  <a:lnTo>
                    <a:pt x="163259" y="651510"/>
                  </a:lnTo>
                  <a:cubicBezTo>
                    <a:pt x="155815" y="659033"/>
                    <a:pt x="155879" y="671165"/>
                    <a:pt x="163401" y="678609"/>
                  </a:cubicBezTo>
                  <a:cubicBezTo>
                    <a:pt x="170924" y="686052"/>
                    <a:pt x="183056" y="685989"/>
                    <a:pt x="190500" y="678466"/>
                  </a:cubicBezTo>
                  <a:lnTo>
                    <a:pt x="342900" y="526066"/>
                  </a:lnTo>
                  <a:lnTo>
                    <a:pt x="342900" y="695325"/>
                  </a:lnTo>
                  <a:cubicBezTo>
                    <a:pt x="342900" y="705846"/>
                    <a:pt x="351429" y="714375"/>
                    <a:pt x="361950" y="714375"/>
                  </a:cubicBezTo>
                  <a:cubicBezTo>
                    <a:pt x="372471" y="714375"/>
                    <a:pt x="381000" y="705846"/>
                    <a:pt x="381000" y="695325"/>
                  </a:cubicBezTo>
                  <a:lnTo>
                    <a:pt x="381000" y="525780"/>
                  </a:lnTo>
                  <a:lnTo>
                    <a:pt x="533400" y="678180"/>
                  </a:lnTo>
                  <a:cubicBezTo>
                    <a:pt x="540844" y="685624"/>
                    <a:pt x="552912" y="685624"/>
                    <a:pt x="560356" y="678180"/>
                  </a:cubicBezTo>
                  <a:cubicBezTo>
                    <a:pt x="567800" y="670736"/>
                    <a:pt x="567800" y="658668"/>
                    <a:pt x="560356" y="651224"/>
                  </a:cubicBezTo>
                  <a:lnTo>
                    <a:pt x="413957" y="504825"/>
                  </a:lnTo>
                  <a:lnTo>
                    <a:pt x="704850" y="504825"/>
                  </a:lnTo>
                  <a:cubicBezTo>
                    <a:pt x="715371" y="504825"/>
                    <a:pt x="723900" y="496296"/>
                    <a:pt x="723900" y="485775"/>
                  </a:cubicBezTo>
                  <a:cubicBezTo>
                    <a:pt x="723900" y="475254"/>
                    <a:pt x="715371" y="466725"/>
                    <a:pt x="704850" y="4667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377">
                <a:buClrTx/>
              </a:pPr>
              <a:endParaRPr lang="en-US" sz="1800" kern="1200"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3703E8B-270C-9013-CFB2-04CAA0B1B73A}"/>
                </a:ext>
              </a:extLst>
            </p:cNvPr>
            <p:cNvSpPr/>
            <p:nvPr/>
          </p:nvSpPr>
          <p:spPr>
            <a:xfrm>
              <a:off x="6105525" y="3267075"/>
              <a:ext cx="161925" cy="38100"/>
            </a:xfrm>
            <a:custGeom>
              <a:avLst/>
              <a:gdLst>
                <a:gd name="connsiteX0" fmla="*/ 0 w 161925"/>
                <a:gd name="connsiteY0" fmla="*/ 0 h 38100"/>
                <a:gd name="connsiteX1" fmla="*/ 161925 w 161925"/>
                <a:gd name="connsiteY1" fmla="*/ 0 h 38100"/>
                <a:gd name="connsiteX2" fmla="*/ 161925 w 161925"/>
                <a:gd name="connsiteY2" fmla="*/ 38100 h 38100"/>
                <a:gd name="connsiteX3" fmla="*/ 0 w 161925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925" h="38100">
                  <a:moveTo>
                    <a:pt x="0" y="0"/>
                  </a:moveTo>
                  <a:lnTo>
                    <a:pt x="161925" y="0"/>
                  </a:lnTo>
                  <a:lnTo>
                    <a:pt x="161925" y="38100"/>
                  </a:lnTo>
                  <a:lnTo>
                    <a:pt x="0" y="38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377">
                <a:buClrTx/>
              </a:pPr>
              <a:endParaRPr lang="en-US" sz="1800" kern="1200"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18CA612-9C72-7F29-4CE3-252A7ED6EB1F}"/>
                </a:ext>
              </a:extLst>
            </p:cNvPr>
            <p:cNvSpPr/>
            <p:nvPr/>
          </p:nvSpPr>
          <p:spPr>
            <a:xfrm>
              <a:off x="5905500" y="3227069"/>
              <a:ext cx="140969" cy="116205"/>
            </a:xfrm>
            <a:custGeom>
              <a:avLst/>
              <a:gdLst>
                <a:gd name="connsiteX0" fmla="*/ 140970 w 140969"/>
                <a:gd name="connsiteY0" fmla="*/ 26670 h 116205"/>
                <a:gd name="connsiteX1" fmla="*/ 114300 w 140969"/>
                <a:gd name="connsiteY1" fmla="*/ 0 h 116205"/>
                <a:gd name="connsiteX2" fmla="*/ 51435 w 140969"/>
                <a:gd name="connsiteY2" fmla="*/ 62865 h 116205"/>
                <a:gd name="connsiteX3" fmla="*/ 26670 w 140969"/>
                <a:gd name="connsiteY3" fmla="*/ 38100 h 116205"/>
                <a:gd name="connsiteX4" fmla="*/ 0 w 140969"/>
                <a:gd name="connsiteY4" fmla="*/ 64770 h 116205"/>
                <a:gd name="connsiteX5" fmla="*/ 51435 w 140969"/>
                <a:gd name="connsiteY5" fmla="*/ 116205 h 116205"/>
                <a:gd name="connsiteX6" fmla="*/ 140970 w 140969"/>
                <a:gd name="connsiteY6" fmla="*/ 26670 h 116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969" h="116205">
                  <a:moveTo>
                    <a:pt x="140970" y="26670"/>
                  </a:moveTo>
                  <a:lnTo>
                    <a:pt x="114300" y="0"/>
                  </a:lnTo>
                  <a:lnTo>
                    <a:pt x="51435" y="62865"/>
                  </a:lnTo>
                  <a:lnTo>
                    <a:pt x="26670" y="38100"/>
                  </a:lnTo>
                  <a:lnTo>
                    <a:pt x="0" y="64770"/>
                  </a:lnTo>
                  <a:lnTo>
                    <a:pt x="51435" y="116205"/>
                  </a:lnTo>
                  <a:lnTo>
                    <a:pt x="140970" y="2667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377">
                <a:buClrTx/>
              </a:pPr>
              <a:endParaRPr lang="en-US" sz="1800" kern="1200"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B1ACF65-B127-468A-602C-7E2FC8119EB6}"/>
                </a:ext>
              </a:extLst>
            </p:cNvPr>
            <p:cNvSpPr/>
            <p:nvPr/>
          </p:nvSpPr>
          <p:spPr>
            <a:xfrm>
              <a:off x="6105525" y="3390900"/>
              <a:ext cx="161925" cy="38100"/>
            </a:xfrm>
            <a:custGeom>
              <a:avLst/>
              <a:gdLst>
                <a:gd name="connsiteX0" fmla="*/ 0 w 161925"/>
                <a:gd name="connsiteY0" fmla="*/ 0 h 38100"/>
                <a:gd name="connsiteX1" fmla="*/ 161925 w 161925"/>
                <a:gd name="connsiteY1" fmla="*/ 0 h 38100"/>
                <a:gd name="connsiteX2" fmla="*/ 161925 w 161925"/>
                <a:gd name="connsiteY2" fmla="*/ 38100 h 38100"/>
                <a:gd name="connsiteX3" fmla="*/ 0 w 161925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925" h="38100">
                  <a:moveTo>
                    <a:pt x="0" y="0"/>
                  </a:moveTo>
                  <a:lnTo>
                    <a:pt x="161925" y="0"/>
                  </a:lnTo>
                  <a:lnTo>
                    <a:pt x="161925" y="38100"/>
                  </a:lnTo>
                  <a:lnTo>
                    <a:pt x="0" y="38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377">
                <a:buClrTx/>
              </a:pPr>
              <a:endParaRPr lang="en-US" sz="1800" kern="1200"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34DAD-CFAF-C255-B7A0-F58DA4D5D5C7}"/>
                </a:ext>
              </a:extLst>
            </p:cNvPr>
            <p:cNvSpPr/>
            <p:nvPr/>
          </p:nvSpPr>
          <p:spPr>
            <a:xfrm>
              <a:off x="5905500" y="3350894"/>
              <a:ext cx="140969" cy="116205"/>
            </a:xfrm>
            <a:custGeom>
              <a:avLst/>
              <a:gdLst>
                <a:gd name="connsiteX0" fmla="*/ 140970 w 140969"/>
                <a:gd name="connsiteY0" fmla="*/ 26670 h 116205"/>
                <a:gd name="connsiteX1" fmla="*/ 114300 w 140969"/>
                <a:gd name="connsiteY1" fmla="*/ 0 h 116205"/>
                <a:gd name="connsiteX2" fmla="*/ 51435 w 140969"/>
                <a:gd name="connsiteY2" fmla="*/ 62865 h 116205"/>
                <a:gd name="connsiteX3" fmla="*/ 26670 w 140969"/>
                <a:gd name="connsiteY3" fmla="*/ 38100 h 116205"/>
                <a:gd name="connsiteX4" fmla="*/ 0 w 140969"/>
                <a:gd name="connsiteY4" fmla="*/ 64770 h 116205"/>
                <a:gd name="connsiteX5" fmla="*/ 51435 w 140969"/>
                <a:gd name="connsiteY5" fmla="*/ 116205 h 116205"/>
                <a:gd name="connsiteX6" fmla="*/ 140970 w 140969"/>
                <a:gd name="connsiteY6" fmla="*/ 26670 h 116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969" h="116205">
                  <a:moveTo>
                    <a:pt x="140970" y="26670"/>
                  </a:moveTo>
                  <a:lnTo>
                    <a:pt x="114300" y="0"/>
                  </a:lnTo>
                  <a:lnTo>
                    <a:pt x="51435" y="62865"/>
                  </a:lnTo>
                  <a:lnTo>
                    <a:pt x="26670" y="38100"/>
                  </a:lnTo>
                  <a:lnTo>
                    <a:pt x="0" y="64770"/>
                  </a:lnTo>
                  <a:lnTo>
                    <a:pt x="51435" y="116205"/>
                  </a:lnTo>
                  <a:lnTo>
                    <a:pt x="140970" y="2667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377">
                <a:buClrTx/>
              </a:pPr>
              <a:endParaRPr lang="en-US" sz="1800" kern="1200"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pic>
        <p:nvPicPr>
          <p:cNvPr id="38" name="Google Shape;11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0011" y="452885"/>
            <a:ext cx="1012400" cy="27797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50939C1-18B5-8F14-FB81-FFBDF15C6A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79428" y="5059098"/>
            <a:ext cx="4318772" cy="66592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Open Sans"/>
                <a:ea typeface="Open Sans"/>
                <a:cs typeface="Open Sans"/>
              </a:rPr>
              <a:t>Regular usage of the platform will include...</a:t>
            </a:r>
            <a:endParaRPr lang="en-U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590976-3C6B-3BD3-16DF-3B8205186B01}"/>
              </a:ext>
            </a:extLst>
          </p:cNvPr>
          <p:cNvSpPr txBox="1"/>
          <p:nvPr/>
        </p:nvSpPr>
        <p:spPr>
          <a:xfrm>
            <a:off x="508112" y="397534"/>
            <a:ext cx="32667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Dataset Overview</a:t>
            </a:r>
          </a:p>
        </p:txBody>
      </p:sp>
      <p:sp>
        <p:nvSpPr>
          <p:cNvPr id="33" name="Google Shape;140;p18">
            <a:extLst>
              <a:ext uri="{FF2B5EF4-FFF2-40B4-BE49-F238E27FC236}">
                <a16:creationId xmlns:a16="http://schemas.microsoft.com/office/drawing/2014/main" id="{1D85DBF4-33A3-505A-D00E-75161F04BA07}"/>
              </a:ext>
            </a:extLst>
          </p:cNvPr>
          <p:cNvSpPr/>
          <p:nvPr/>
        </p:nvSpPr>
        <p:spPr>
          <a:xfrm rot="5400000">
            <a:off x="1102482" y="487733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8237C7-1F58-791D-BC4C-56ABF094B076}"/>
              </a:ext>
            </a:extLst>
          </p:cNvPr>
          <p:cNvSpPr txBox="1"/>
          <p:nvPr/>
        </p:nvSpPr>
        <p:spPr>
          <a:xfrm>
            <a:off x="508112" y="1888772"/>
            <a:ext cx="112833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SQL dataset containing transactions from December 2009 to September 2011</a:t>
            </a:r>
          </a:p>
          <a:p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The file has ~1M rows and  8 columns 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detailing invoices, product description, quantities, pricing, customers , and countries.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/>
              <a:t>Data was exported by LGS IT team, and anonymized</a:t>
            </a:r>
          </a:p>
          <a:p>
            <a:endParaRPr lang="en-US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Loaded into a </a:t>
            </a:r>
            <a:r>
              <a:rPr lang="en-CA" i="0" u="none" strike="noStrike" dirty="0">
                <a:solidFill>
                  <a:srgbClr val="000000"/>
                </a:solidFill>
                <a:effectLst/>
              </a:rPr>
              <a:t>PostgreSQL database and analyzed using Python (Pandas)</a:t>
            </a:r>
            <a:r>
              <a:rPr lang="en-CA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for data wrangling and analytics.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6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9D3DB71-F754-2356-5E2E-5BF2A6DCD05A}"/>
              </a:ext>
            </a:extLst>
          </p:cNvPr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8536B5-C936-1D70-4E7E-A1920FABDA52}"/>
              </a:ext>
            </a:extLst>
          </p:cNvPr>
          <p:cNvSpPr txBox="1"/>
          <p:nvPr/>
        </p:nvSpPr>
        <p:spPr>
          <a:xfrm>
            <a:off x="540329" y="365955"/>
            <a:ext cx="560993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Data quality, risks &amp; limitations</a:t>
            </a:r>
          </a:p>
        </p:txBody>
      </p:sp>
      <p:sp>
        <p:nvSpPr>
          <p:cNvPr id="14" name="Google Shape;140;p18">
            <a:extLst>
              <a:ext uri="{FF2B5EF4-FFF2-40B4-BE49-F238E27FC236}">
                <a16:creationId xmlns:a16="http://schemas.microsoft.com/office/drawing/2014/main" id="{84753693-096B-2FB6-B92D-6BC432C7B3C1}"/>
              </a:ext>
            </a:extLst>
          </p:cNvPr>
          <p:cNvSpPr/>
          <p:nvPr/>
        </p:nvSpPr>
        <p:spPr>
          <a:xfrm rot="5400000">
            <a:off x="1089189" y="434353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31C13-B0BB-E47D-2869-3B97E6795281}"/>
              </a:ext>
            </a:extLst>
          </p:cNvPr>
          <p:cNvSpPr txBox="1"/>
          <p:nvPr/>
        </p:nvSpPr>
        <p:spPr>
          <a:xfrm>
            <a:off x="540329" y="1458809"/>
            <a:ext cx="9372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Inconsistent and incomplete records</a:t>
            </a:r>
            <a:r>
              <a:rPr lang="en-CA" dirty="0"/>
              <a:t> (cancelled invoices, missing IDs) reduce reliability of customer and revenue insights.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Fragmented product data &amp; short 2-year window</a:t>
            </a:r>
            <a:r>
              <a:rPr lang="en-CA" dirty="0"/>
              <a:t> limits product-level analysis and long-term forecasting.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0EA0F5-0703-4D74-E09E-5B20530D5ED9}"/>
              </a:ext>
            </a:extLst>
          </p:cNvPr>
          <p:cNvSpPr txBox="1"/>
          <p:nvPr/>
        </p:nvSpPr>
        <p:spPr>
          <a:xfrm>
            <a:off x="625389" y="3418557"/>
            <a:ext cx="93726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Mitigations</a:t>
            </a:r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dirty="0"/>
              <a:t>Build a </a:t>
            </a:r>
            <a:r>
              <a:rPr lang="en-CA" b="1" dirty="0"/>
              <a:t>Product Master Table</a:t>
            </a:r>
            <a:r>
              <a:rPr lang="en-CA" dirty="0"/>
              <a:t> to standardize SKUs and enable meaningful product/category analytics.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dirty="0"/>
              <a:t>Improve </a:t>
            </a:r>
            <a:r>
              <a:rPr lang="en-CA" b="1" dirty="0"/>
              <a:t>data capture &amp; identification</a:t>
            </a:r>
            <a:r>
              <a:rPr lang="en-CA" dirty="0"/>
              <a:t> (e.g., stable customer IDs, richer event logging) to support deeper future analysis.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13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BD725-09FC-07FA-706C-24229001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E900DA6-E67A-5663-F0A8-2C70DE36E511}"/>
              </a:ext>
            </a:extLst>
          </p:cNvPr>
          <p:cNvSpPr/>
          <p:nvPr/>
        </p:nvSpPr>
        <p:spPr>
          <a:xfrm>
            <a:off x="0" y="6450708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69A793-64FD-0469-7A8A-7D4105BFD82A}"/>
              </a:ext>
            </a:extLst>
          </p:cNvPr>
          <p:cNvSpPr txBox="1"/>
          <p:nvPr/>
        </p:nvSpPr>
        <p:spPr>
          <a:xfrm>
            <a:off x="540328" y="385263"/>
            <a:ext cx="58251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Data cleaning &amp; transformations</a:t>
            </a:r>
          </a:p>
        </p:txBody>
      </p:sp>
      <p:sp>
        <p:nvSpPr>
          <p:cNvPr id="14" name="Google Shape;140;p18">
            <a:extLst>
              <a:ext uri="{FF2B5EF4-FFF2-40B4-BE49-F238E27FC236}">
                <a16:creationId xmlns:a16="http://schemas.microsoft.com/office/drawing/2014/main" id="{551807C7-AB72-DB68-941F-AA8689205606}"/>
              </a:ext>
            </a:extLst>
          </p:cNvPr>
          <p:cNvSpPr/>
          <p:nvPr/>
        </p:nvSpPr>
        <p:spPr>
          <a:xfrm rot="5400000">
            <a:off x="1089189" y="453661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35952D-5AFA-8B8E-64CA-89D61D0873FD}"/>
              </a:ext>
            </a:extLst>
          </p:cNvPr>
          <p:cNvSpPr txBox="1"/>
          <p:nvPr/>
        </p:nvSpPr>
        <p:spPr>
          <a:xfrm>
            <a:off x="540328" y="1985541"/>
            <a:ext cx="108152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b="1" dirty="0"/>
              <a:t>Type casting</a:t>
            </a:r>
            <a:r>
              <a:rPr lang="en-CA" dirty="0"/>
              <a:t> </a:t>
            </a:r>
          </a:p>
          <a:p>
            <a:endParaRPr lang="en-CA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b="1" dirty="0"/>
              <a:t>Derived fields created</a:t>
            </a:r>
            <a:r>
              <a:rPr lang="en-CA" dirty="0"/>
              <a:t> </a:t>
            </a:r>
          </a:p>
          <a:p>
            <a:endParaRPr lang="en-CA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b="1" dirty="0"/>
              <a:t>Filtering and normalization</a:t>
            </a:r>
            <a:r>
              <a:rPr lang="en-CA" dirty="0"/>
              <a:t> 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CA" b="1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CA" b="1" dirty="0"/>
              <a:t>Standardization of column naming and formats</a:t>
            </a:r>
            <a:r>
              <a:rPr lang="en-CA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64183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9823E0-A19A-19DC-80C4-4D1EE4670749}"/>
              </a:ext>
            </a:extLst>
          </p:cNvPr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1D0B3-0D83-27A3-D22C-46D74319DF1E}"/>
              </a:ext>
            </a:extLst>
          </p:cNvPr>
          <p:cNvSpPr txBox="1"/>
          <p:nvPr/>
        </p:nvSpPr>
        <p:spPr>
          <a:xfrm>
            <a:off x="512764" y="342975"/>
            <a:ext cx="55344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Analytics methods &amp; approach</a:t>
            </a:r>
          </a:p>
        </p:txBody>
      </p:sp>
      <p:sp>
        <p:nvSpPr>
          <p:cNvPr id="7" name="Google Shape;140;p18">
            <a:extLst>
              <a:ext uri="{FF2B5EF4-FFF2-40B4-BE49-F238E27FC236}">
                <a16:creationId xmlns:a16="http://schemas.microsoft.com/office/drawing/2014/main" id="{7A617C43-E091-1877-5C8D-6BAE041EBB58}"/>
              </a:ext>
            </a:extLst>
          </p:cNvPr>
          <p:cNvSpPr/>
          <p:nvPr/>
        </p:nvSpPr>
        <p:spPr>
          <a:xfrm rot="5400000">
            <a:off x="1060528" y="407801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B4CF8-7B24-9E06-C396-7D18EC4D0609}"/>
              </a:ext>
            </a:extLst>
          </p:cNvPr>
          <p:cNvSpPr txBox="1"/>
          <p:nvPr/>
        </p:nvSpPr>
        <p:spPr>
          <a:xfrm>
            <a:off x="512764" y="1789492"/>
            <a:ext cx="109404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Time-series analysis </a:t>
            </a:r>
            <a:r>
              <a:rPr lang="en-CA" dirty="0"/>
              <a:t>to evaluate monthly sales, customer activity, and cancellation trends,</a:t>
            </a:r>
          </a:p>
          <a:p>
            <a:r>
              <a:rPr lang="en-CA" dirty="0"/>
              <a:t>       revealing seasonality and operational gaps.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Ranking and aggregation techniques </a:t>
            </a:r>
            <a:r>
              <a:rPr lang="en-CA" dirty="0"/>
              <a:t>to identify top customers, top countries, and product performance patterns.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dirty="0"/>
              <a:t>Performed </a:t>
            </a:r>
            <a:r>
              <a:rPr lang="en-CA" b="1" dirty="0"/>
              <a:t>RFM segmentation</a:t>
            </a:r>
            <a:r>
              <a:rPr lang="en-CA" dirty="0"/>
              <a:t> (Recency, Frequency, Monetary) to classify customers into actionable</a:t>
            </a:r>
          </a:p>
          <a:p>
            <a:r>
              <a:rPr lang="en-CA" dirty="0"/>
              <a:t>      behavioral groups.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Customer lifecycle analysis 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by distinguishing first-time vs repeat buyers.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036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01117-117B-845A-0704-BB36510205D1}"/>
              </a:ext>
            </a:extLst>
          </p:cNvPr>
          <p:cNvSpPr txBox="1"/>
          <p:nvPr/>
        </p:nvSpPr>
        <p:spPr>
          <a:xfrm>
            <a:off x="968188" y="412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Google Shape;141;p18">
            <a:extLst>
              <a:ext uri="{FF2B5EF4-FFF2-40B4-BE49-F238E27FC236}">
                <a16:creationId xmlns:a16="http://schemas.microsoft.com/office/drawing/2014/main" id="{B5C9E988-1AD2-9840-61C5-E788537B2DB6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800"/>
            </a:pPr>
            <a:fld id="{00000000-1234-1234-1234-123412341234}" type="slidenum">
              <a:rPr lang="en" sz="1067" smtClean="0">
                <a:solidFill>
                  <a:schemeClr val="lt1"/>
                </a:solidFill>
              </a:rPr>
              <a:pPr algn="r">
                <a:buSzPts val="800"/>
              </a:pPr>
              <a:t>8</a:t>
            </a:fld>
            <a:endParaRPr lang="en" sz="1067">
              <a:solidFill>
                <a:schemeClr val="l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68420-0840-005A-81BF-83BE047EA55E}"/>
              </a:ext>
            </a:extLst>
          </p:cNvPr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9E114-2A7C-EEEA-FA92-2E0F576F75BF}"/>
              </a:ext>
            </a:extLst>
          </p:cNvPr>
          <p:cNvSpPr txBox="1"/>
          <p:nvPr/>
        </p:nvSpPr>
        <p:spPr>
          <a:xfrm>
            <a:off x="6400800" y="519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7B63EB-BC2D-1D28-4E93-1A17A0FF13AF}"/>
              </a:ext>
            </a:extLst>
          </p:cNvPr>
          <p:cNvSpPr txBox="1"/>
          <p:nvPr/>
        </p:nvSpPr>
        <p:spPr>
          <a:xfrm>
            <a:off x="473854" y="1492901"/>
            <a:ext cx="574271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b="1" i="0" u="none" strike="noStrike" dirty="0">
                <a:solidFill>
                  <a:srgbClr val="C00000"/>
                </a:solidFill>
                <a:effectLst/>
              </a:rPr>
              <a:t>Business Question: 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How does customer purchasing behavior evolve throughout the year, and how can LGS better leverage both new and repeat customers?</a:t>
            </a:r>
          </a:p>
          <a:p>
            <a:pPr algn="l"/>
            <a:endParaRPr lang="en-CA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CA" b="1" i="0" u="none" strike="noStrike" dirty="0">
                <a:solidFill>
                  <a:srgbClr val="C00000"/>
                </a:solidFill>
                <a:effectLst/>
              </a:rPr>
              <a:t>Recommendation / Business Impact:</a:t>
            </a:r>
          </a:p>
          <a:p>
            <a:pPr algn="l"/>
            <a:endParaRPr lang="en-CA" b="1" i="0" u="none" strike="noStrike" dirty="0">
              <a:solidFill>
                <a:srgbClr val="C00000"/>
              </a:solidFill>
              <a:effectLst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dirty="0"/>
              <a:t>Plan early for November peaks (sales up 2–3X) by boosting inventory 2–3 months ahead.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dirty="0"/>
              <a:t>Run targeted seasonal campaigns in Sept–Nov, when new customer acquisition rises.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dirty="0"/>
              <a:t>Strengthen loyalty programs, since 75–90% of monthly buyers are repeat customers.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dirty="0"/>
              <a:t>Stabilize off-season demand with retention tactics and off-season promos.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CA469A-A97D-D546-CC92-E8D0ABF215F0}"/>
              </a:ext>
            </a:extLst>
          </p:cNvPr>
          <p:cNvSpPr txBox="1"/>
          <p:nvPr/>
        </p:nvSpPr>
        <p:spPr>
          <a:xfrm>
            <a:off x="473854" y="358023"/>
            <a:ext cx="5789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tx1"/>
                </a:solidFill>
                <a:latin typeface="Albert Sans"/>
              </a:rPr>
              <a:t>Insight 1 : Customer growth and seasonality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AC9DBE8-4C47-F65B-3F3A-DC9A78B78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12140"/>
            <a:ext cx="5937101" cy="334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40;p18">
            <a:extLst>
              <a:ext uri="{FF2B5EF4-FFF2-40B4-BE49-F238E27FC236}">
                <a16:creationId xmlns:a16="http://schemas.microsoft.com/office/drawing/2014/main" id="{67B4313E-05BC-DD5E-4D3E-2DAA8958A10D}"/>
              </a:ext>
            </a:extLst>
          </p:cNvPr>
          <p:cNvSpPr/>
          <p:nvPr/>
        </p:nvSpPr>
        <p:spPr>
          <a:xfrm rot="5400000">
            <a:off x="1038753" y="866286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Placeholder 19">
            <a:extLst>
              <a:ext uri="{FF2B5EF4-FFF2-40B4-BE49-F238E27FC236}">
                <a16:creationId xmlns:a16="http://schemas.microsoft.com/office/drawing/2014/main" id="{C6480DD8-7322-C7D2-65FF-17782314FA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7" r="927"/>
          <a:stretch>
            <a:fillRect/>
          </a:stretch>
        </p:blipFill>
        <p:spPr>
          <a:xfrm>
            <a:off x="6119813" y="0"/>
            <a:ext cx="6096000" cy="293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4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1;p18">
            <a:extLst>
              <a:ext uri="{FF2B5EF4-FFF2-40B4-BE49-F238E27FC236}">
                <a16:creationId xmlns:a16="http://schemas.microsoft.com/office/drawing/2014/main" id="{FE9CADF5-6489-C992-4FCF-EED63F557602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800"/>
            </a:pPr>
            <a:fld id="{00000000-1234-1234-1234-123412341234}" type="slidenum">
              <a:rPr lang="en" sz="1067" smtClean="0">
                <a:solidFill>
                  <a:schemeClr val="lt1"/>
                </a:solidFill>
              </a:rPr>
              <a:pPr algn="r">
                <a:buSzPts val="800"/>
              </a:pPr>
              <a:t>9</a:t>
            </a:fld>
            <a:endParaRPr lang="en" sz="1067">
              <a:solidFill>
                <a:schemeClr val="l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62A83-4C8C-4DF4-0955-5566248CBA86}"/>
              </a:ext>
            </a:extLst>
          </p:cNvPr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B7259-E312-B7F4-A6C6-1B49F55954EB}"/>
              </a:ext>
            </a:extLst>
          </p:cNvPr>
          <p:cNvSpPr txBox="1"/>
          <p:nvPr/>
        </p:nvSpPr>
        <p:spPr>
          <a:xfrm>
            <a:off x="6400800" y="519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67C88-37F5-CD8E-1A1F-3784CC7486D4}"/>
              </a:ext>
            </a:extLst>
          </p:cNvPr>
          <p:cNvSpPr txBox="1"/>
          <p:nvPr/>
        </p:nvSpPr>
        <p:spPr>
          <a:xfrm>
            <a:off x="375093" y="1711990"/>
            <a:ext cx="58642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i="0" u="none" strike="noStrike" dirty="0">
                <a:solidFill>
                  <a:srgbClr val="C00000"/>
                </a:solidFill>
                <a:effectLst/>
              </a:rPr>
              <a:t>Business Question: </a:t>
            </a:r>
            <a:r>
              <a:rPr lang="en-CA" dirty="0">
                <a:solidFill>
                  <a:srgbClr val="000000"/>
                </a:solidFill>
              </a:rPr>
              <a:t>How significant are cancellations, and do they impact LGS’s revenue?</a:t>
            </a:r>
          </a:p>
          <a:p>
            <a:endParaRPr lang="en-CA" dirty="0">
              <a:solidFill>
                <a:srgbClr val="000000"/>
              </a:solidFill>
            </a:endParaRPr>
          </a:p>
          <a:p>
            <a:pPr algn="l"/>
            <a:r>
              <a:rPr lang="en-CA" b="1" i="0" u="none" strike="noStrike" dirty="0">
                <a:solidFill>
                  <a:srgbClr val="C00000"/>
                </a:solidFill>
                <a:effectLst/>
              </a:rPr>
              <a:t>Recommendation / Business Impact: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Investigate root causes of cancellations (stockouts, listing errors, fulfillment issues).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CA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Strengthen inventory management and demand planning</a:t>
            </a:r>
          </a:p>
          <a:p>
            <a:pPr algn="l"/>
            <a:r>
              <a:rPr lang="en-CA" dirty="0">
                <a:solidFill>
                  <a:srgbClr val="000000"/>
                </a:solidFill>
                <a:latin typeface="-webkit-standard"/>
              </a:rPr>
              <a:t>     Before seasonal peaks.</a:t>
            </a:r>
          </a:p>
          <a:p>
            <a:pPr algn="l"/>
            <a:endParaRPr lang="en-CA" dirty="0">
              <a:solidFill>
                <a:srgbClr val="000000"/>
              </a:solidFill>
              <a:latin typeface="-webkit-standard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Reducing cancellations by </a:t>
            </a:r>
            <a:r>
              <a:rPr lang="en-CA" i="0" u="none" strike="noStrike" dirty="0">
                <a:solidFill>
                  <a:srgbClr val="000000"/>
                </a:solidFill>
                <a:effectLst/>
              </a:rPr>
              <a:t>5 – 10%</a:t>
            </a:r>
            <a:r>
              <a:rPr lang="en-CA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would recover meaningful revenue and improve customer satisfaction.</a:t>
            </a:r>
            <a:endParaRPr lang="en-CA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446A0-A5AC-ED9E-26FE-66FEC5B790F2}"/>
              </a:ext>
            </a:extLst>
          </p:cNvPr>
          <p:cNvSpPr txBox="1"/>
          <p:nvPr/>
        </p:nvSpPr>
        <p:spPr>
          <a:xfrm>
            <a:off x="414671" y="317517"/>
            <a:ext cx="58380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tx1"/>
                </a:solidFill>
                <a:latin typeface="Albert Sans"/>
              </a:rPr>
              <a:t>Insight 2 : Order Cancellations </a:t>
            </a:r>
          </a:p>
          <a:p>
            <a:r>
              <a:rPr lang="en-US" sz="3000" b="1" dirty="0">
                <a:latin typeface="Albert Sans"/>
              </a:rPr>
              <a:t>trends </a:t>
            </a:r>
            <a:r>
              <a:rPr lang="en-US" sz="3000" b="1" dirty="0">
                <a:solidFill>
                  <a:schemeClr val="tx1"/>
                </a:solidFill>
                <a:latin typeface="Albert Sans"/>
              </a:rPr>
              <a:t>(Placed vs Cancelled orders)</a:t>
            </a:r>
          </a:p>
        </p:txBody>
      </p:sp>
      <p:pic>
        <p:nvPicPr>
          <p:cNvPr id="29" name="Picture Placeholder 28" descr="A screenshot of a graph&#10;&#10;AI-generated content may be incorrect.">
            <a:extLst>
              <a:ext uri="{FF2B5EF4-FFF2-40B4-BE49-F238E27FC236}">
                <a16:creationId xmlns:a16="http://schemas.microsoft.com/office/drawing/2014/main" id="{BBF54F17-A18E-680D-616F-423E2CBA370E}"/>
              </a:ext>
            </a:extLst>
          </p:cNvPr>
          <p:cNvPicPr preferRelativeResize="0"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69380"/>
            <a:ext cx="6047097" cy="4078427"/>
          </a:xfrm>
        </p:spPr>
      </p:pic>
      <p:sp>
        <p:nvSpPr>
          <p:cNvPr id="30" name="Google Shape;140;p18">
            <a:extLst>
              <a:ext uri="{FF2B5EF4-FFF2-40B4-BE49-F238E27FC236}">
                <a16:creationId xmlns:a16="http://schemas.microsoft.com/office/drawing/2014/main" id="{4B2DBA78-1B26-BCAD-B9C8-058A071A9873}"/>
              </a:ext>
            </a:extLst>
          </p:cNvPr>
          <p:cNvSpPr/>
          <p:nvPr/>
        </p:nvSpPr>
        <p:spPr>
          <a:xfrm rot="5400000">
            <a:off x="975453" y="825780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771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1;p18">
            <a:extLst>
              <a:ext uri="{FF2B5EF4-FFF2-40B4-BE49-F238E27FC236}">
                <a16:creationId xmlns:a16="http://schemas.microsoft.com/office/drawing/2014/main" id="{2AE07532-AAD1-615B-DDB0-96AFBF31BDC4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89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SzPts val="800"/>
            </a:pPr>
            <a:fld id="{00000000-1234-1234-1234-123412341234}" type="slidenum">
              <a:rPr lang="en" sz="1067" smtClean="0">
                <a:solidFill>
                  <a:schemeClr val="lt1"/>
                </a:solidFill>
              </a:rPr>
              <a:pPr algn="r">
                <a:buSzPts val="800"/>
              </a:pPr>
              <a:t>10</a:t>
            </a:fld>
            <a:endParaRPr lang="en" sz="1067">
              <a:solidFill>
                <a:schemeClr val="l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06DA4-BA8E-4F81-C5D9-3BA18B8C1768}"/>
              </a:ext>
            </a:extLst>
          </p:cNvPr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83C62-3DBC-6BE2-2CAB-3E11D62E6B26}"/>
              </a:ext>
            </a:extLst>
          </p:cNvPr>
          <p:cNvSpPr txBox="1"/>
          <p:nvPr/>
        </p:nvSpPr>
        <p:spPr>
          <a:xfrm>
            <a:off x="6400800" y="519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49B43-28A6-34F5-704C-A91F8DC1D358}"/>
              </a:ext>
            </a:extLst>
          </p:cNvPr>
          <p:cNvSpPr txBox="1"/>
          <p:nvPr/>
        </p:nvSpPr>
        <p:spPr>
          <a:xfrm>
            <a:off x="427888" y="2709649"/>
            <a:ext cx="57155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>
              <a:solidFill>
                <a:srgbClr val="000000"/>
              </a:solidFill>
            </a:endParaRPr>
          </a:p>
          <a:p>
            <a:pPr algn="l"/>
            <a:r>
              <a:rPr lang="en-CA" b="1" i="0" u="none" strike="noStrike" dirty="0">
                <a:solidFill>
                  <a:srgbClr val="C00000"/>
                </a:solidFill>
                <a:effectLst/>
              </a:rPr>
              <a:t>Recommendation / Business Impact:</a:t>
            </a:r>
            <a:endParaRPr lang="en-CA" b="1" dirty="0">
              <a:solidFill>
                <a:srgbClr val="C00000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Champions:</a:t>
            </a:r>
            <a:r>
              <a:rPr lang="en-CA" dirty="0"/>
              <a:t> Provide exclusive offers, early access, and loyalty perks, improves retention &amp; lifetime value.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Can’t Lose:</a:t>
            </a:r>
            <a:r>
              <a:rPr lang="en-CA" dirty="0"/>
              <a:t> Re-engage immediately through personalized campaigns, replenishment reminders, and discounts.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Hibernating:</a:t>
            </a:r>
            <a:r>
              <a:rPr lang="en-CA" dirty="0"/>
              <a:t> Win-back campaigns focusing on past purchases and incentives to revive dormant customers.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B9712-4AD6-6E64-9AC8-22A3FB56E68B}"/>
              </a:ext>
            </a:extLst>
          </p:cNvPr>
          <p:cNvSpPr txBox="1"/>
          <p:nvPr/>
        </p:nvSpPr>
        <p:spPr>
          <a:xfrm>
            <a:off x="427888" y="298116"/>
            <a:ext cx="5765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tx1"/>
                </a:solidFill>
                <a:latin typeface="Albert Sans"/>
              </a:rPr>
              <a:t>Insight </a:t>
            </a:r>
            <a:r>
              <a:rPr lang="en-US" sz="3000" b="1" dirty="0">
                <a:latin typeface="Albert Sans"/>
              </a:rPr>
              <a:t>3</a:t>
            </a:r>
            <a:r>
              <a:rPr lang="en-US" sz="3000" b="1" dirty="0">
                <a:solidFill>
                  <a:schemeClr val="tx1"/>
                </a:solidFill>
                <a:latin typeface="Albert Sans"/>
              </a:rPr>
              <a:t> : RFM Segmentation for customers categorization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39F323-E023-677E-9193-437DEB280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400" y="752503"/>
            <a:ext cx="5998744" cy="45085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5F9452-8517-A6EC-D56E-043DDF56A2FB}"/>
              </a:ext>
            </a:extLst>
          </p:cNvPr>
          <p:cNvSpPr txBox="1"/>
          <p:nvPr/>
        </p:nvSpPr>
        <p:spPr>
          <a:xfrm>
            <a:off x="427888" y="1464101"/>
            <a:ext cx="5620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Analysis method that groups customers based on </a:t>
            </a:r>
          </a:p>
          <a:p>
            <a:r>
              <a:rPr lang="en-CA" dirty="0"/>
              <a:t>their recency, frequency, and monetary value; scoring customers on these metrics to categorize them and conduct tailored campaigns</a:t>
            </a:r>
          </a:p>
          <a:p>
            <a:endParaRPr lang="en-US" dirty="0"/>
          </a:p>
        </p:txBody>
      </p:sp>
      <p:sp>
        <p:nvSpPr>
          <p:cNvPr id="14" name="Google Shape;140;p18">
            <a:extLst>
              <a:ext uri="{FF2B5EF4-FFF2-40B4-BE49-F238E27FC236}">
                <a16:creationId xmlns:a16="http://schemas.microsoft.com/office/drawing/2014/main" id="{81892545-E709-E03A-41F5-BB27B4366BF9}"/>
              </a:ext>
            </a:extLst>
          </p:cNvPr>
          <p:cNvSpPr/>
          <p:nvPr/>
        </p:nvSpPr>
        <p:spPr>
          <a:xfrm rot="5400000">
            <a:off x="1005698" y="806379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1914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D43344-4C1E-9ECF-C0F3-705CE705B943}"/>
              </a:ext>
            </a:extLst>
          </p:cNvPr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2489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02C87-3855-7F42-5F9D-5D387D70E3D8}"/>
              </a:ext>
            </a:extLst>
          </p:cNvPr>
          <p:cNvSpPr txBox="1"/>
          <p:nvPr/>
        </p:nvSpPr>
        <p:spPr>
          <a:xfrm>
            <a:off x="443930" y="153183"/>
            <a:ext cx="56937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Albert Sans"/>
              </a:rPr>
              <a:t>Insight 4: Geographic Market </a:t>
            </a:r>
          </a:p>
          <a:p>
            <a:r>
              <a:rPr lang="en-US" sz="3000" b="1" dirty="0">
                <a:latin typeface="Albert Sans"/>
              </a:rPr>
              <a:t>Concentration &amp; Expansion opportunity</a:t>
            </a:r>
            <a:endParaRPr lang="en-US" sz="3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1D787F-E29F-5829-E0D0-C1A707635E8D}"/>
              </a:ext>
            </a:extLst>
          </p:cNvPr>
          <p:cNvSpPr txBox="1"/>
          <p:nvPr/>
        </p:nvSpPr>
        <p:spPr>
          <a:xfrm>
            <a:off x="443931" y="2851089"/>
            <a:ext cx="56937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b="1" i="0" u="none" strike="noStrike" dirty="0">
                <a:solidFill>
                  <a:srgbClr val="C00000"/>
                </a:solidFill>
                <a:effectLst/>
              </a:rPr>
              <a:t>Recommendation / Business Impact:</a:t>
            </a:r>
            <a:endParaRPr lang="en-CA" b="1" dirty="0">
              <a:solidFill>
                <a:srgbClr val="C00000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Invest in targeted digital advertising </a:t>
            </a:r>
            <a:r>
              <a:rPr lang="en-CA" dirty="0"/>
              <a:t>and localized seasonal promotions to increase brand awareness in high-potential close regions(Germany, France, etc.)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Optimize shipping/logistics options 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Develop geo-specific email campaigns </a:t>
            </a:r>
            <a:r>
              <a:rPr lang="en-CA" dirty="0"/>
              <a:t>and product recommendations tailored to local preferences.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AF668-E523-3970-EE5A-41910C9ECD48}"/>
              </a:ext>
            </a:extLst>
          </p:cNvPr>
          <p:cNvSpPr txBox="1"/>
          <p:nvPr/>
        </p:nvSpPr>
        <p:spPr>
          <a:xfrm>
            <a:off x="418991" y="1806568"/>
            <a:ext cx="55479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b="1" i="0" u="none" strike="noStrike" dirty="0">
                <a:solidFill>
                  <a:srgbClr val="C00000"/>
                </a:solidFill>
                <a:effectLst/>
              </a:rPr>
              <a:t>Business Question: </a:t>
            </a:r>
            <a:r>
              <a:rPr lang="en-CA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Which countries contribute the most customers, and how geographically concentrated is LGS’s customer base?</a:t>
            </a:r>
            <a:endParaRPr lang="en-CA" i="0" u="none" strike="noStrike" dirty="0">
              <a:effectLst/>
            </a:endParaRPr>
          </a:p>
        </p:txBody>
      </p:sp>
      <p:sp>
        <p:nvSpPr>
          <p:cNvPr id="18" name="Google Shape;140;p18">
            <a:extLst>
              <a:ext uri="{FF2B5EF4-FFF2-40B4-BE49-F238E27FC236}">
                <a16:creationId xmlns:a16="http://schemas.microsoft.com/office/drawing/2014/main" id="{432AD646-E34E-76E5-156A-8EEDF931D2CC}"/>
              </a:ext>
            </a:extLst>
          </p:cNvPr>
          <p:cNvSpPr/>
          <p:nvPr/>
        </p:nvSpPr>
        <p:spPr>
          <a:xfrm rot="5400000">
            <a:off x="1027650" y="1164721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70BAF953-6FBD-41B2-A2C3-EBC83BC00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666" y="1381945"/>
            <a:ext cx="3738159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172830-D244-2090-B32D-6DF664483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187" y="1381945"/>
            <a:ext cx="2542010" cy="297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7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8D82D8-6458-5F3E-8477-6B5327CAA524}"/>
              </a:ext>
            </a:extLst>
          </p:cNvPr>
          <p:cNvSpPr txBox="1"/>
          <p:nvPr/>
        </p:nvSpPr>
        <p:spPr>
          <a:xfrm>
            <a:off x="446568" y="298246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lbert Sans"/>
              </a:rPr>
              <a:t>Recommendations</a:t>
            </a:r>
          </a:p>
        </p:txBody>
      </p:sp>
      <p:sp>
        <p:nvSpPr>
          <p:cNvPr id="3" name="Google Shape;140;p18">
            <a:extLst>
              <a:ext uri="{FF2B5EF4-FFF2-40B4-BE49-F238E27FC236}">
                <a16:creationId xmlns:a16="http://schemas.microsoft.com/office/drawing/2014/main" id="{BD907F4B-249B-0DCC-B1AC-F6021F8D1AE0}"/>
              </a:ext>
            </a:extLst>
          </p:cNvPr>
          <p:cNvSpPr/>
          <p:nvPr/>
        </p:nvSpPr>
        <p:spPr>
          <a:xfrm rot="5400000">
            <a:off x="1048591" y="397421"/>
            <a:ext cx="43600" cy="9712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D34FC-2934-F50A-F069-B8E54DCC46A8}"/>
              </a:ext>
            </a:extLst>
          </p:cNvPr>
          <p:cNvSpPr txBox="1"/>
          <p:nvPr/>
        </p:nvSpPr>
        <p:spPr>
          <a:xfrm>
            <a:off x="446568" y="1489597"/>
            <a:ext cx="111216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Strengthen customer retention</a:t>
            </a:r>
            <a:r>
              <a:rPr lang="en-CA" dirty="0"/>
              <a:t> by activating RFM segments ,through targeted promotions, automated win-back campaigns, and personalized recommendations.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Prepare for seasonal demand</a:t>
            </a:r>
            <a:r>
              <a:rPr lang="en-CA" dirty="0"/>
              <a:t> by optimizing inventory, improving forecast accuracy, and launching early marketing campaigns ahead of holiday spikes.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Reduce cancellations</a:t>
            </a:r>
            <a:r>
              <a:rPr lang="en-CA" dirty="0"/>
              <a:t> through better product data quality, improved stock accuracy, and proactive communication workflows.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Expand internationally</a:t>
            </a:r>
            <a:r>
              <a:rPr lang="en-CA" dirty="0"/>
              <a:t> by prioritizing geographically close, high-potential markets with localized advertising and optimized logistics.</a:t>
            </a:r>
          </a:p>
          <a:p>
            <a:endParaRPr lang="en-CA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CA" b="1" dirty="0"/>
              <a:t>Build scalable analytics foundations</a:t>
            </a:r>
            <a:r>
              <a:rPr lang="en-CA" dirty="0"/>
              <a:t> by automating ETL flows, standardizing product data, and gradually transitioning toward real-time dashboards and distributed processing (Spark/Databricks).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22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800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5664356" y="5883898"/>
            <a:ext cx="190462" cy="190462"/>
            <a:chOff x="0" y="0"/>
            <a:chExt cx="190462" cy="1904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55499" y="0"/>
                  </a:moveTo>
                  <a:cubicBezTo>
                    <a:pt x="24892" y="0"/>
                    <a:pt x="0" y="24892"/>
                    <a:pt x="0" y="55626"/>
                  </a:cubicBezTo>
                  <a:lnTo>
                    <a:pt x="0" y="135001"/>
                  </a:lnTo>
                  <a:cubicBezTo>
                    <a:pt x="0" y="165481"/>
                    <a:pt x="24892" y="190500"/>
                    <a:pt x="55626" y="190500"/>
                  </a:cubicBezTo>
                  <a:lnTo>
                    <a:pt x="135001" y="190500"/>
                  </a:lnTo>
                  <a:cubicBezTo>
                    <a:pt x="165481" y="190500"/>
                    <a:pt x="190500" y="165481"/>
                    <a:pt x="190500" y="134874"/>
                  </a:cubicBezTo>
                  <a:lnTo>
                    <a:pt x="190500" y="55499"/>
                  </a:lnTo>
                  <a:cubicBezTo>
                    <a:pt x="190500" y="24892"/>
                    <a:pt x="165481" y="0"/>
                    <a:pt x="134874" y="0"/>
                  </a:cubicBezTo>
                  <a:close/>
                  <a:moveTo>
                    <a:pt x="150749" y="31750"/>
                  </a:moveTo>
                  <a:cubicBezTo>
                    <a:pt x="155067" y="31750"/>
                    <a:pt x="158623" y="35306"/>
                    <a:pt x="158623" y="39624"/>
                  </a:cubicBezTo>
                  <a:cubicBezTo>
                    <a:pt x="158623" y="43942"/>
                    <a:pt x="155067" y="47498"/>
                    <a:pt x="150749" y="47498"/>
                  </a:cubicBezTo>
                  <a:cubicBezTo>
                    <a:pt x="146431" y="47498"/>
                    <a:pt x="142875" y="43942"/>
                    <a:pt x="142875" y="39624"/>
                  </a:cubicBezTo>
                  <a:cubicBezTo>
                    <a:pt x="142875" y="35306"/>
                    <a:pt x="146431" y="31750"/>
                    <a:pt x="150749" y="31750"/>
                  </a:cubicBezTo>
                  <a:moveTo>
                    <a:pt x="95250" y="47625"/>
                  </a:moveTo>
                  <a:cubicBezTo>
                    <a:pt x="121539" y="47625"/>
                    <a:pt x="142875" y="68961"/>
                    <a:pt x="142875" y="95250"/>
                  </a:cubicBezTo>
                  <a:cubicBezTo>
                    <a:pt x="142875" y="121539"/>
                    <a:pt x="121539" y="142875"/>
                    <a:pt x="95250" y="142875"/>
                  </a:cubicBezTo>
                  <a:cubicBezTo>
                    <a:pt x="68961" y="142875"/>
                    <a:pt x="47625" y="121539"/>
                    <a:pt x="47625" y="95250"/>
                  </a:cubicBezTo>
                  <a:cubicBezTo>
                    <a:pt x="47625" y="68961"/>
                    <a:pt x="68961" y="47625"/>
                    <a:pt x="95250" y="47625"/>
                  </a:cubicBezTo>
                  <a:moveTo>
                    <a:pt x="95250" y="63500"/>
                  </a:moveTo>
                  <a:cubicBezTo>
                    <a:pt x="77724" y="63500"/>
                    <a:pt x="63500" y="77724"/>
                    <a:pt x="63500" y="95250"/>
                  </a:cubicBezTo>
                  <a:cubicBezTo>
                    <a:pt x="63500" y="112776"/>
                    <a:pt x="77724" y="127000"/>
                    <a:pt x="95250" y="127000"/>
                  </a:cubicBezTo>
                  <a:cubicBezTo>
                    <a:pt x="112776" y="127000"/>
                    <a:pt x="127000" y="112776"/>
                    <a:pt x="127000" y="95250"/>
                  </a:cubicBezTo>
                  <a:cubicBezTo>
                    <a:pt x="127000" y="77724"/>
                    <a:pt x="112776" y="63500"/>
                    <a:pt x="95250" y="6350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5854817" y="4496909"/>
            <a:ext cx="744960" cy="16419"/>
            <a:chOff x="0" y="0"/>
            <a:chExt cx="576072" cy="12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6072" cy="12700"/>
            </a:xfrm>
            <a:custGeom>
              <a:avLst/>
              <a:gdLst/>
              <a:ahLst/>
              <a:cxnLst/>
              <a:rect l="l" t="t" r="r" b="b"/>
              <a:pathLst>
                <a:path w="576072" h="12700">
                  <a:moveTo>
                    <a:pt x="0" y="0"/>
                  </a:moveTo>
                  <a:lnTo>
                    <a:pt x="576072" y="0"/>
                  </a:lnTo>
                  <a:lnTo>
                    <a:pt x="57607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922997" y="5798125"/>
            <a:ext cx="676780" cy="337861"/>
            <a:chOff x="0" y="0"/>
            <a:chExt cx="676783" cy="337858"/>
          </a:xfrm>
        </p:grpSpPr>
        <p:sp>
          <p:nvSpPr>
            <p:cNvPr id="9" name="Freeform 9"/>
            <p:cNvSpPr/>
            <p:nvPr/>
          </p:nvSpPr>
          <p:spPr>
            <a:xfrm>
              <a:off x="63500" y="63500"/>
              <a:ext cx="52832" cy="210820"/>
            </a:xfrm>
            <a:custGeom>
              <a:avLst/>
              <a:gdLst/>
              <a:ahLst/>
              <a:cxnLst/>
              <a:rect l="l" t="t" r="r" b="b"/>
              <a:pathLst>
                <a:path w="52832" h="210820">
                  <a:moveTo>
                    <a:pt x="3683" y="69977"/>
                  </a:moveTo>
                  <a:lnTo>
                    <a:pt x="49403" y="69977"/>
                  </a:lnTo>
                  <a:lnTo>
                    <a:pt x="49403" y="210820"/>
                  </a:lnTo>
                  <a:lnTo>
                    <a:pt x="3683" y="210820"/>
                  </a:lnTo>
                  <a:close/>
                  <a:moveTo>
                    <a:pt x="26416" y="0"/>
                  </a:moveTo>
                  <a:cubicBezTo>
                    <a:pt x="41021" y="0"/>
                    <a:pt x="52832" y="11430"/>
                    <a:pt x="52832" y="25400"/>
                  </a:cubicBezTo>
                  <a:cubicBezTo>
                    <a:pt x="52832" y="39370"/>
                    <a:pt x="41021" y="50800"/>
                    <a:pt x="26416" y="50800"/>
                  </a:cubicBezTo>
                  <a:cubicBezTo>
                    <a:pt x="11811" y="50800"/>
                    <a:pt x="0" y="39370"/>
                    <a:pt x="0" y="25400"/>
                  </a:cubicBezTo>
                  <a:cubicBezTo>
                    <a:pt x="0" y="11430"/>
                    <a:pt x="11811" y="0"/>
                    <a:pt x="26416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41478" y="130048"/>
              <a:ext cx="142367" cy="144272"/>
            </a:xfrm>
            <a:custGeom>
              <a:avLst/>
              <a:gdLst/>
              <a:ahLst/>
              <a:cxnLst/>
              <a:rect l="l" t="t" r="r" b="b"/>
              <a:pathLst>
                <a:path w="142367" h="144272">
                  <a:moveTo>
                    <a:pt x="0" y="3429"/>
                  </a:moveTo>
                  <a:lnTo>
                    <a:pt x="43815" y="3429"/>
                  </a:lnTo>
                  <a:lnTo>
                    <a:pt x="43815" y="22733"/>
                  </a:lnTo>
                  <a:lnTo>
                    <a:pt x="44450" y="22733"/>
                  </a:lnTo>
                  <a:cubicBezTo>
                    <a:pt x="50546" y="11684"/>
                    <a:pt x="65405" y="0"/>
                    <a:pt x="87630" y="0"/>
                  </a:cubicBezTo>
                  <a:cubicBezTo>
                    <a:pt x="133858" y="0"/>
                    <a:pt x="142367" y="29210"/>
                    <a:pt x="142367" y="67056"/>
                  </a:cubicBezTo>
                  <a:lnTo>
                    <a:pt x="142367" y="144272"/>
                  </a:lnTo>
                  <a:lnTo>
                    <a:pt x="96647" y="144272"/>
                  </a:lnTo>
                  <a:lnTo>
                    <a:pt x="96647" y="75819"/>
                  </a:lnTo>
                  <a:cubicBezTo>
                    <a:pt x="96647" y="59436"/>
                    <a:pt x="96393" y="38481"/>
                    <a:pt x="72898" y="38481"/>
                  </a:cubicBezTo>
                  <a:cubicBezTo>
                    <a:pt x="49149" y="38481"/>
                    <a:pt x="45466" y="56261"/>
                    <a:pt x="45466" y="74676"/>
                  </a:cubicBezTo>
                  <a:lnTo>
                    <a:pt x="45466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92811" y="99314"/>
              <a:ext cx="220472" cy="175006"/>
            </a:xfrm>
            <a:custGeom>
              <a:avLst/>
              <a:gdLst/>
              <a:ahLst/>
              <a:cxnLst/>
              <a:rect l="l" t="t" r="r" b="b"/>
              <a:pathLst>
                <a:path w="220472" h="175006">
                  <a:moveTo>
                    <a:pt x="220472" y="20701"/>
                  </a:moveTo>
                  <a:cubicBezTo>
                    <a:pt x="212344" y="24257"/>
                    <a:pt x="203708" y="26543"/>
                    <a:pt x="194564" y="27686"/>
                  </a:cubicBezTo>
                  <a:cubicBezTo>
                    <a:pt x="203835" y="22225"/>
                    <a:pt x="211074" y="13589"/>
                    <a:pt x="214503" y="3302"/>
                  </a:cubicBezTo>
                  <a:cubicBezTo>
                    <a:pt x="205740" y="8382"/>
                    <a:pt x="196088" y="12065"/>
                    <a:pt x="185801" y="13970"/>
                  </a:cubicBezTo>
                  <a:cubicBezTo>
                    <a:pt x="177546" y="5334"/>
                    <a:pt x="165862" y="0"/>
                    <a:pt x="152781" y="0"/>
                  </a:cubicBezTo>
                  <a:cubicBezTo>
                    <a:pt x="127889" y="0"/>
                    <a:pt x="107569" y="19812"/>
                    <a:pt x="107569" y="44196"/>
                  </a:cubicBezTo>
                  <a:cubicBezTo>
                    <a:pt x="107569" y="47625"/>
                    <a:pt x="107950" y="51054"/>
                    <a:pt x="108712" y="54229"/>
                  </a:cubicBezTo>
                  <a:cubicBezTo>
                    <a:pt x="71120" y="52451"/>
                    <a:pt x="37846" y="34798"/>
                    <a:pt x="15494" y="8001"/>
                  </a:cubicBezTo>
                  <a:cubicBezTo>
                    <a:pt x="11557" y="14478"/>
                    <a:pt x="9398" y="22098"/>
                    <a:pt x="9398" y="30226"/>
                  </a:cubicBezTo>
                  <a:cubicBezTo>
                    <a:pt x="9398" y="45593"/>
                    <a:pt x="17399" y="59055"/>
                    <a:pt x="29464" y="67056"/>
                  </a:cubicBezTo>
                  <a:cubicBezTo>
                    <a:pt x="22098" y="66802"/>
                    <a:pt x="15113" y="64770"/>
                    <a:pt x="9017" y="61595"/>
                  </a:cubicBezTo>
                  <a:cubicBezTo>
                    <a:pt x="9017" y="61722"/>
                    <a:pt x="9017" y="61976"/>
                    <a:pt x="9017" y="62103"/>
                  </a:cubicBezTo>
                  <a:cubicBezTo>
                    <a:pt x="9017" y="83566"/>
                    <a:pt x="24638" y="101346"/>
                    <a:pt x="45212" y="105410"/>
                  </a:cubicBezTo>
                  <a:cubicBezTo>
                    <a:pt x="41402" y="106426"/>
                    <a:pt x="37465" y="106934"/>
                    <a:pt x="33274" y="106934"/>
                  </a:cubicBezTo>
                  <a:cubicBezTo>
                    <a:pt x="30353" y="106934"/>
                    <a:pt x="27559" y="106680"/>
                    <a:pt x="24765" y="106172"/>
                  </a:cubicBezTo>
                  <a:cubicBezTo>
                    <a:pt x="30480" y="123698"/>
                    <a:pt x="47244" y="136525"/>
                    <a:pt x="66929" y="136906"/>
                  </a:cubicBezTo>
                  <a:cubicBezTo>
                    <a:pt x="51435" y="148717"/>
                    <a:pt x="32004" y="155829"/>
                    <a:pt x="10795" y="155829"/>
                  </a:cubicBezTo>
                  <a:cubicBezTo>
                    <a:pt x="7112" y="155829"/>
                    <a:pt x="3556" y="155575"/>
                    <a:pt x="0" y="155194"/>
                  </a:cubicBezTo>
                  <a:cubicBezTo>
                    <a:pt x="20066" y="167767"/>
                    <a:pt x="43815" y="175006"/>
                    <a:pt x="69342" y="175006"/>
                  </a:cubicBezTo>
                  <a:cubicBezTo>
                    <a:pt x="152527" y="175006"/>
                    <a:pt x="197993" y="107696"/>
                    <a:pt x="197993" y="49276"/>
                  </a:cubicBezTo>
                  <a:cubicBezTo>
                    <a:pt x="197993" y="47371"/>
                    <a:pt x="197993" y="45466"/>
                    <a:pt x="197866" y="43561"/>
                  </a:cubicBezTo>
                  <a:cubicBezTo>
                    <a:pt x="206756" y="37338"/>
                    <a:pt x="214376" y="29591"/>
                    <a:pt x="220472" y="2070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4970717" y="3062866"/>
            <a:ext cx="2253614" cy="732269"/>
            <a:chOff x="0" y="0"/>
            <a:chExt cx="1708328" cy="555092"/>
          </a:xfrm>
        </p:grpSpPr>
        <p:sp>
          <p:nvSpPr>
            <p:cNvPr id="13" name="Freeform 13"/>
            <p:cNvSpPr/>
            <p:nvPr/>
          </p:nvSpPr>
          <p:spPr>
            <a:xfrm>
              <a:off x="692785" y="131572"/>
              <a:ext cx="231775" cy="344297"/>
            </a:xfrm>
            <a:custGeom>
              <a:avLst/>
              <a:gdLst/>
              <a:ahLst/>
              <a:cxnLst/>
              <a:rect l="l" t="t" r="r" b="b"/>
              <a:pathLst>
                <a:path w="231775" h="344297">
                  <a:moveTo>
                    <a:pt x="0" y="0"/>
                  </a:moveTo>
                  <a:cubicBezTo>
                    <a:pt x="34671" y="889"/>
                    <a:pt x="68961" y="889"/>
                    <a:pt x="103124" y="2921"/>
                  </a:cubicBezTo>
                  <a:cubicBezTo>
                    <a:pt x="126492" y="4318"/>
                    <a:pt x="149098" y="10541"/>
                    <a:pt x="169545" y="22733"/>
                  </a:cubicBezTo>
                  <a:cubicBezTo>
                    <a:pt x="218440" y="51943"/>
                    <a:pt x="224917" y="115570"/>
                    <a:pt x="182753" y="153797"/>
                  </a:cubicBezTo>
                  <a:cubicBezTo>
                    <a:pt x="173863" y="161798"/>
                    <a:pt x="163830" y="168656"/>
                    <a:pt x="153797" y="176403"/>
                  </a:cubicBezTo>
                  <a:cubicBezTo>
                    <a:pt x="179578" y="231648"/>
                    <a:pt x="205486" y="287274"/>
                    <a:pt x="231775" y="343662"/>
                  </a:cubicBezTo>
                  <a:cubicBezTo>
                    <a:pt x="221615" y="343662"/>
                    <a:pt x="212090" y="344297"/>
                    <a:pt x="202819" y="343281"/>
                  </a:cubicBezTo>
                  <a:cubicBezTo>
                    <a:pt x="200025" y="343027"/>
                    <a:pt x="196596" y="338836"/>
                    <a:pt x="195072" y="335788"/>
                  </a:cubicBezTo>
                  <a:cubicBezTo>
                    <a:pt x="175768" y="295021"/>
                    <a:pt x="156718" y="254000"/>
                    <a:pt x="137668" y="213106"/>
                  </a:cubicBezTo>
                  <a:cubicBezTo>
                    <a:pt x="130937" y="198628"/>
                    <a:pt x="124206" y="184023"/>
                    <a:pt x="117475" y="169545"/>
                  </a:cubicBezTo>
                  <a:cubicBezTo>
                    <a:pt x="116713" y="167894"/>
                    <a:pt x="116078" y="166243"/>
                    <a:pt x="115062" y="164084"/>
                  </a:cubicBezTo>
                  <a:cubicBezTo>
                    <a:pt x="121793" y="160528"/>
                    <a:pt x="128270" y="157353"/>
                    <a:pt x="134493" y="153543"/>
                  </a:cubicBezTo>
                  <a:cubicBezTo>
                    <a:pt x="144018" y="147574"/>
                    <a:pt x="154305" y="142113"/>
                    <a:pt x="162433" y="134620"/>
                  </a:cubicBezTo>
                  <a:cubicBezTo>
                    <a:pt x="188214" y="110744"/>
                    <a:pt x="186055" y="73914"/>
                    <a:pt x="158115" y="52578"/>
                  </a:cubicBezTo>
                  <a:cubicBezTo>
                    <a:pt x="141224" y="39624"/>
                    <a:pt x="121793" y="32258"/>
                    <a:pt x="100584" y="31115"/>
                  </a:cubicBezTo>
                  <a:cubicBezTo>
                    <a:pt x="81661" y="30099"/>
                    <a:pt x="62738" y="29972"/>
                    <a:pt x="43688" y="29845"/>
                  </a:cubicBezTo>
                  <a:cubicBezTo>
                    <a:pt x="29718" y="29718"/>
                    <a:pt x="29718" y="30099"/>
                    <a:pt x="29718" y="43688"/>
                  </a:cubicBezTo>
                  <a:lnTo>
                    <a:pt x="29718" y="335280"/>
                  </a:lnTo>
                  <a:lnTo>
                    <a:pt x="29718" y="342392"/>
                  </a:lnTo>
                  <a:lnTo>
                    <a:pt x="0" y="3423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39090" y="116205"/>
              <a:ext cx="304038" cy="359537"/>
            </a:xfrm>
            <a:custGeom>
              <a:avLst/>
              <a:gdLst/>
              <a:ahLst/>
              <a:cxnLst/>
              <a:rect l="l" t="t" r="r" b="b"/>
              <a:pathLst>
                <a:path w="304038" h="359537">
                  <a:moveTo>
                    <a:pt x="0" y="359410"/>
                  </a:moveTo>
                  <a:cubicBezTo>
                    <a:pt x="50927" y="239141"/>
                    <a:pt x="101346" y="120015"/>
                    <a:pt x="152273" y="0"/>
                  </a:cubicBezTo>
                  <a:cubicBezTo>
                    <a:pt x="203073" y="119761"/>
                    <a:pt x="253365" y="238760"/>
                    <a:pt x="304038" y="358267"/>
                  </a:cubicBezTo>
                  <a:lnTo>
                    <a:pt x="136525" y="358267"/>
                  </a:lnTo>
                  <a:lnTo>
                    <a:pt x="136525" y="329819"/>
                  </a:lnTo>
                  <a:lnTo>
                    <a:pt x="259080" y="329819"/>
                  </a:lnTo>
                  <a:cubicBezTo>
                    <a:pt x="223393" y="245618"/>
                    <a:pt x="188087" y="162433"/>
                    <a:pt x="152400" y="78232"/>
                  </a:cubicBezTo>
                  <a:cubicBezTo>
                    <a:pt x="146050" y="92964"/>
                    <a:pt x="140208" y="106553"/>
                    <a:pt x="134493" y="120015"/>
                  </a:cubicBezTo>
                  <a:cubicBezTo>
                    <a:pt x="102489" y="195453"/>
                    <a:pt x="70612" y="270891"/>
                    <a:pt x="38735" y="346329"/>
                  </a:cubicBezTo>
                  <a:cubicBezTo>
                    <a:pt x="34163" y="356997"/>
                    <a:pt x="30607" y="359410"/>
                    <a:pt x="18796" y="359537"/>
                  </a:cubicBezTo>
                  <a:cubicBezTo>
                    <a:pt x="12954" y="359537"/>
                    <a:pt x="7112" y="359537"/>
                    <a:pt x="127" y="35953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 dirty="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392428" y="120777"/>
              <a:ext cx="252349" cy="364617"/>
            </a:xfrm>
            <a:custGeom>
              <a:avLst/>
              <a:gdLst/>
              <a:ahLst/>
              <a:cxnLst/>
              <a:rect l="l" t="t" r="r" b="b"/>
              <a:pathLst>
                <a:path w="252349" h="364617">
                  <a:moveTo>
                    <a:pt x="226568" y="41275"/>
                  </a:moveTo>
                  <a:cubicBezTo>
                    <a:pt x="219329" y="49276"/>
                    <a:pt x="212852" y="56388"/>
                    <a:pt x="205994" y="63881"/>
                  </a:cubicBezTo>
                  <a:cubicBezTo>
                    <a:pt x="204089" y="62484"/>
                    <a:pt x="202438" y="61214"/>
                    <a:pt x="200787" y="59944"/>
                  </a:cubicBezTo>
                  <a:cubicBezTo>
                    <a:pt x="171196" y="37211"/>
                    <a:pt x="137795" y="29845"/>
                    <a:pt x="101346" y="34671"/>
                  </a:cubicBezTo>
                  <a:cubicBezTo>
                    <a:pt x="91821" y="35941"/>
                    <a:pt x="82169" y="37592"/>
                    <a:pt x="73025" y="40513"/>
                  </a:cubicBezTo>
                  <a:cubicBezTo>
                    <a:pt x="51562" y="47117"/>
                    <a:pt x="38227" y="64643"/>
                    <a:pt x="36830" y="86995"/>
                  </a:cubicBezTo>
                  <a:cubicBezTo>
                    <a:pt x="36068" y="99822"/>
                    <a:pt x="36068" y="112903"/>
                    <a:pt x="44196" y="123698"/>
                  </a:cubicBezTo>
                  <a:cubicBezTo>
                    <a:pt x="48514" y="129540"/>
                    <a:pt x="53975" y="135255"/>
                    <a:pt x="60071" y="139065"/>
                  </a:cubicBezTo>
                  <a:cubicBezTo>
                    <a:pt x="85852" y="154940"/>
                    <a:pt x="114554" y="163957"/>
                    <a:pt x="143510" y="172212"/>
                  </a:cubicBezTo>
                  <a:cubicBezTo>
                    <a:pt x="163957" y="178054"/>
                    <a:pt x="184658" y="183515"/>
                    <a:pt x="202819" y="195199"/>
                  </a:cubicBezTo>
                  <a:cubicBezTo>
                    <a:pt x="224790" y="209296"/>
                    <a:pt x="240665" y="227838"/>
                    <a:pt x="245745" y="254000"/>
                  </a:cubicBezTo>
                  <a:cubicBezTo>
                    <a:pt x="252349" y="288163"/>
                    <a:pt x="237363" y="321691"/>
                    <a:pt x="207137" y="340233"/>
                  </a:cubicBezTo>
                  <a:cubicBezTo>
                    <a:pt x="182626" y="355219"/>
                    <a:pt x="155702" y="362331"/>
                    <a:pt x="127254" y="363474"/>
                  </a:cubicBezTo>
                  <a:cubicBezTo>
                    <a:pt x="94996" y="364617"/>
                    <a:pt x="63500" y="360553"/>
                    <a:pt x="34036" y="346710"/>
                  </a:cubicBezTo>
                  <a:cubicBezTo>
                    <a:pt x="22479" y="341249"/>
                    <a:pt x="11938" y="333502"/>
                    <a:pt x="127" y="326390"/>
                  </a:cubicBezTo>
                  <a:cubicBezTo>
                    <a:pt x="7493" y="318262"/>
                    <a:pt x="14097" y="311023"/>
                    <a:pt x="21082" y="303276"/>
                  </a:cubicBezTo>
                  <a:cubicBezTo>
                    <a:pt x="33909" y="312928"/>
                    <a:pt x="47498" y="320548"/>
                    <a:pt x="62484" y="325374"/>
                  </a:cubicBezTo>
                  <a:cubicBezTo>
                    <a:pt x="90551" y="334391"/>
                    <a:pt x="118745" y="333248"/>
                    <a:pt x="147320" y="328168"/>
                  </a:cubicBezTo>
                  <a:cubicBezTo>
                    <a:pt x="166116" y="324866"/>
                    <a:pt x="183515" y="318770"/>
                    <a:pt x="198120" y="305943"/>
                  </a:cubicBezTo>
                  <a:cubicBezTo>
                    <a:pt x="225298" y="282067"/>
                    <a:pt x="222504" y="245110"/>
                    <a:pt x="191516" y="226441"/>
                  </a:cubicBezTo>
                  <a:cubicBezTo>
                    <a:pt x="164973" y="210439"/>
                    <a:pt x="136017" y="200025"/>
                    <a:pt x="106299" y="191516"/>
                  </a:cubicBezTo>
                  <a:cubicBezTo>
                    <a:pt x="86360" y="185801"/>
                    <a:pt x="66294" y="180594"/>
                    <a:pt x="48387" y="169418"/>
                  </a:cubicBezTo>
                  <a:cubicBezTo>
                    <a:pt x="27432" y="156464"/>
                    <a:pt x="11557" y="139573"/>
                    <a:pt x="7493" y="114681"/>
                  </a:cubicBezTo>
                  <a:cubicBezTo>
                    <a:pt x="0" y="68326"/>
                    <a:pt x="18034" y="25019"/>
                    <a:pt x="73025" y="11049"/>
                  </a:cubicBezTo>
                  <a:cubicBezTo>
                    <a:pt x="116205" y="0"/>
                    <a:pt x="158369" y="2286"/>
                    <a:pt x="198628" y="22479"/>
                  </a:cubicBezTo>
                  <a:cubicBezTo>
                    <a:pt x="208280" y="27305"/>
                    <a:pt x="216662" y="34671"/>
                    <a:pt x="226314" y="41402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37641" y="131699"/>
              <a:ext cx="304419" cy="359918"/>
            </a:xfrm>
            <a:custGeom>
              <a:avLst/>
              <a:gdLst/>
              <a:ahLst/>
              <a:cxnLst/>
              <a:rect l="l" t="t" r="r" b="b"/>
              <a:pathLst>
                <a:path w="304419" h="359918">
                  <a:moveTo>
                    <a:pt x="0" y="127"/>
                  </a:moveTo>
                  <a:cubicBezTo>
                    <a:pt x="10414" y="635"/>
                    <a:pt x="19685" y="0"/>
                    <a:pt x="28321" y="1905"/>
                  </a:cubicBezTo>
                  <a:cubicBezTo>
                    <a:pt x="32131" y="2794"/>
                    <a:pt x="35814" y="8509"/>
                    <a:pt x="37719" y="12954"/>
                  </a:cubicBezTo>
                  <a:cubicBezTo>
                    <a:pt x="49022" y="38608"/>
                    <a:pt x="59817" y="64389"/>
                    <a:pt x="70866" y="90170"/>
                  </a:cubicBezTo>
                  <a:cubicBezTo>
                    <a:pt x="97155" y="151765"/>
                    <a:pt x="123317" y="213360"/>
                    <a:pt x="149606" y="274955"/>
                  </a:cubicBezTo>
                  <a:cubicBezTo>
                    <a:pt x="150368" y="276733"/>
                    <a:pt x="151257" y="278511"/>
                    <a:pt x="152527" y="281178"/>
                  </a:cubicBezTo>
                  <a:cubicBezTo>
                    <a:pt x="159131" y="265684"/>
                    <a:pt x="165354" y="251079"/>
                    <a:pt x="171577" y="236601"/>
                  </a:cubicBezTo>
                  <a:cubicBezTo>
                    <a:pt x="204216" y="159893"/>
                    <a:pt x="236855" y="83185"/>
                    <a:pt x="269367" y="6477"/>
                  </a:cubicBezTo>
                  <a:cubicBezTo>
                    <a:pt x="271018" y="2540"/>
                    <a:pt x="272923" y="889"/>
                    <a:pt x="277368" y="1016"/>
                  </a:cubicBezTo>
                  <a:cubicBezTo>
                    <a:pt x="286004" y="1397"/>
                    <a:pt x="294767" y="1143"/>
                    <a:pt x="304419" y="1143"/>
                  </a:cubicBezTo>
                  <a:cubicBezTo>
                    <a:pt x="253746" y="120904"/>
                    <a:pt x="203327" y="239776"/>
                    <a:pt x="152400" y="359918"/>
                  </a:cubicBezTo>
                  <a:cubicBezTo>
                    <a:pt x="101473" y="239776"/>
                    <a:pt x="51054" y="120777"/>
                    <a:pt x="0" y="12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627" y="63373"/>
              <a:ext cx="236982" cy="418846"/>
            </a:xfrm>
            <a:custGeom>
              <a:avLst/>
              <a:gdLst/>
              <a:ahLst/>
              <a:cxnLst/>
              <a:rect l="l" t="t" r="r" b="b"/>
              <a:pathLst>
                <a:path w="236982" h="418846">
                  <a:moveTo>
                    <a:pt x="236728" y="508"/>
                  </a:moveTo>
                  <a:lnTo>
                    <a:pt x="236728" y="8382"/>
                  </a:lnTo>
                  <a:cubicBezTo>
                    <a:pt x="236728" y="71628"/>
                    <a:pt x="236728" y="134874"/>
                    <a:pt x="236728" y="198247"/>
                  </a:cubicBezTo>
                  <a:cubicBezTo>
                    <a:pt x="236728" y="235458"/>
                    <a:pt x="236982" y="272669"/>
                    <a:pt x="236220" y="309880"/>
                  </a:cubicBezTo>
                  <a:cubicBezTo>
                    <a:pt x="235712" y="332232"/>
                    <a:pt x="230124" y="353568"/>
                    <a:pt x="218821" y="372872"/>
                  </a:cubicBezTo>
                  <a:cubicBezTo>
                    <a:pt x="203962" y="398145"/>
                    <a:pt x="181229" y="412115"/>
                    <a:pt x="152400" y="415798"/>
                  </a:cubicBezTo>
                  <a:cubicBezTo>
                    <a:pt x="128651" y="418846"/>
                    <a:pt x="105029" y="417449"/>
                    <a:pt x="81915" y="411099"/>
                  </a:cubicBezTo>
                  <a:cubicBezTo>
                    <a:pt x="57785" y="404368"/>
                    <a:pt x="40132" y="388874"/>
                    <a:pt x="27432" y="368046"/>
                  </a:cubicBezTo>
                  <a:cubicBezTo>
                    <a:pt x="17399" y="351663"/>
                    <a:pt x="9525" y="333883"/>
                    <a:pt x="762" y="316738"/>
                  </a:cubicBezTo>
                  <a:cubicBezTo>
                    <a:pt x="254" y="315849"/>
                    <a:pt x="381" y="314706"/>
                    <a:pt x="0" y="312801"/>
                  </a:cubicBezTo>
                  <a:cubicBezTo>
                    <a:pt x="11176" y="312801"/>
                    <a:pt x="22098" y="312674"/>
                    <a:pt x="32893" y="312928"/>
                  </a:cubicBezTo>
                  <a:cubicBezTo>
                    <a:pt x="34036" y="312928"/>
                    <a:pt x="35433" y="315214"/>
                    <a:pt x="36068" y="316611"/>
                  </a:cubicBezTo>
                  <a:cubicBezTo>
                    <a:pt x="39370" y="323723"/>
                    <a:pt x="42418" y="330962"/>
                    <a:pt x="45847" y="337947"/>
                  </a:cubicBezTo>
                  <a:cubicBezTo>
                    <a:pt x="67564" y="381381"/>
                    <a:pt x="123698" y="400558"/>
                    <a:pt x="167767" y="379984"/>
                  </a:cubicBezTo>
                  <a:cubicBezTo>
                    <a:pt x="187325" y="370840"/>
                    <a:pt x="196977" y="354457"/>
                    <a:pt x="201803" y="334391"/>
                  </a:cubicBezTo>
                  <a:cubicBezTo>
                    <a:pt x="207518" y="310388"/>
                    <a:pt x="207391" y="286004"/>
                    <a:pt x="207391" y="261493"/>
                  </a:cubicBezTo>
                  <a:cubicBezTo>
                    <a:pt x="207391" y="237744"/>
                    <a:pt x="207391" y="214122"/>
                    <a:pt x="207391" y="190373"/>
                  </a:cubicBezTo>
                  <a:cubicBezTo>
                    <a:pt x="207518" y="129286"/>
                    <a:pt x="207645" y="68199"/>
                    <a:pt x="207518" y="7112"/>
                  </a:cubicBezTo>
                  <a:cubicBezTo>
                    <a:pt x="207518" y="1270"/>
                    <a:pt x="209296" y="0"/>
                    <a:pt x="214630" y="254"/>
                  </a:cubicBezTo>
                  <a:cubicBezTo>
                    <a:pt x="221742" y="635"/>
                    <a:pt x="228854" y="381"/>
                    <a:pt x="236855" y="381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290701" y="133604"/>
              <a:ext cx="28575" cy="340995"/>
            </a:xfrm>
            <a:custGeom>
              <a:avLst/>
              <a:gdLst/>
              <a:ahLst/>
              <a:cxnLst/>
              <a:rect l="l" t="t" r="r" b="b"/>
              <a:pathLst>
                <a:path w="28575" h="340995">
                  <a:moveTo>
                    <a:pt x="28575" y="340995"/>
                  </a:moveTo>
                  <a:lnTo>
                    <a:pt x="0" y="340995"/>
                  </a:lnTo>
                  <a:lnTo>
                    <a:pt x="0" y="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 sz="8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592077" y="4365464"/>
            <a:ext cx="3505447" cy="23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959"/>
              </a:lnSpc>
            </a:pPr>
            <a:r>
              <a:rPr lang="en-US" sz="1399" spc="27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EQUALIZING OPPORTUNITY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83404" y="4365464"/>
            <a:ext cx="2888151" cy="237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959"/>
              </a:lnSpc>
            </a:pPr>
            <a:r>
              <a:rPr lang="en-US" sz="1399" spc="27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MAXIMIZING POTENTIAL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55717" y="6178775"/>
            <a:ext cx="1227687" cy="254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99"/>
              </a:lnSpc>
            </a:pPr>
            <a:r>
              <a:rPr lang="en-US" sz="1500" spc="29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JRVS.CA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0B4FDF-2916-7DD7-C57D-218A8DB143A5}"/>
              </a:ext>
            </a:extLst>
          </p:cNvPr>
          <p:cNvSpPr txBox="1"/>
          <p:nvPr/>
        </p:nvSpPr>
        <p:spPr>
          <a:xfrm>
            <a:off x="4395799" y="1194080"/>
            <a:ext cx="33425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Google Shape;278;p27"/>
          <p:cNvSpPr txBox="1"/>
          <p:nvPr/>
        </p:nvSpPr>
        <p:spPr>
          <a:xfrm>
            <a:off x="2382200" y="3077150"/>
            <a:ext cx="7427600" cy="1017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999"/>
              </a:lnSpc>
            </a:pPr>
            <a:r>
              <a:rPr lang="en" sz="11534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Barlow" panose="00000500000000000000" pitchFamily="2" charset="0"/>
                <a:ea typeface="Open Sans Light" panose="020B0306030504020204" pitchFamily="34" charset="0"/>
                <a:cs typeface="Open Sans Light" panose="020B0306030504020204" pitchFamily="34" charset="0"/>
                <a:sym typeface="Open Sans Light"/>
              </a:rPr>
              <a:t>Q &amp; A</a:t>
            </a:r>
            <a:endParaRPr lang="en-US" sz="11534" dirty="0">
              <a:solidFill>
                <a:schemeClr val="tx1">
                  <a:lumMod val="50000"/>
                  <a:lumOff val="50000"/>
                </a:schemeClr>
              </a:solidFill>
              <a:latin typeface="Barlow" panose="00000500000000000000" pitchFamily="2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36853"/>
            <a:ext cx="12192000" cy="421148"/>
          </a:xfrm>
          <a:prstGeom prst="rect">
            <a:avLst/>
          </a:prstGeom>
          <a:solidFill>
            <a:srgbClr val="DA2C36"/>
          </a:solidFill>
          <a:ln>
            <a:solidFill>
              <a:srgbClr val="DA2C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126" y="452885"/>
            <a:ext cx="1040687" cy="28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32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11715</TotalTime>
  <Words>826</Words>
  <Application>Microsoft Macintosh PowerPoint</Application>
  <PresentationFormat>Widescreen</PresentationFormat>
  <Paragraphs>134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-webkit-standard</vt:lpstr>
      <vt:lpstr>Albert Sans</vt:lpstr>
      <vt:lpstr>Aptos</vt:lpstr>
      <vt:lpstr>Aptos Display</vt:lpstr>
      <vt:lpstr>Arial</vt:lpstr>
      <vt:lpstr>Barlow</vt:lpstr>
      <vt:lpstr>Bricolage Grotesque</vt:lpstr>
      <vt:lpstr>Calibri</vt:lpstr>
      <vt:lpstr>Courier New</vt:lpstr>
      <vt:lpstr>Lato</vt:lpstr>
      <vt:lpstr>Lato Light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Kanty-Louange Gakima</cp:lastModifiedBy>
  <cp:revision>16</cp:revision>
  <dcterms:created xsi:type="dcterms:W3CDTF">2025-10-31T19:38:48Z</dcterms:created>
  <dcterms:modified xsi:type="dcterms:W3CDTF">2025-12-26T19:16:24Z</dcterms:modified>
</cp:coreProperties>
</file>